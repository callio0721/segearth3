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7"/>
    <a:srgbClr val="FFEBF5"/>
    <a:srgbClr val="E7EFFF"/>
    <a:srgbClr val="E7FFF8"/>
    <a:srgbClr val="FBE3D6"/>
    <a:srgbClr val="E9FDFD"/>
    <a:srgbClr val="FFFFCC"/>
    <a:srgbClr val="F2FBEF"/>
    <a:srgbClr val="DCF2FC"/>
    <a:srgbClr val="FE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606B4-9AD0-4C45-A797-4D0FF4D914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965B1-55A6-4C67-A9DA-8FC6C556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32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5B1-55A6-4C67-A9DA-8FC6C5562D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71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557C9-8475-6C25-248C-44FB827E0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C78447-E046-52A1-EA15-80ACDCB9F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80C2B-D1E7-E597-AC11-632EFB31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5C33E-A6BA-CF99-84D6-F063B636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B8709-DC13-49D8-2CCB-0E883772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9C14B-F6BE-65F6-79A6-6D081DE6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AB145-898C-4C13-3AA4-3CFF305B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4DB4F-10AE-BE16-53C3-C0944F0A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D59E6-C5DE-B9C5-74FB-5A51C352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67400-2A06-7490-D380-9184FBAF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2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4B0FE-78BE-B50A-6840-A90BD1F6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B6A36B-0A38-9269-B139-6061E80D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D8BF70-6EA5-9B8E-88BC-0A890344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935866-E2F4-ECD9-82D6-70840F57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211820-5F4E-8759-1B11-104119BC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7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3F937-A5EE-1293-B255-4FE82992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FDE68E-B0B9-9590-B337-FBCF8A613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27441B-87D7-8C54-C5EC-C97FC87C5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4912C-BDEA-E24A-3B51-F8B085ED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D82CC4-00F1-3381-0F9C-2B16D587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BC92DA-0377-5EB6-9B35-5B5182F8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65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D8BA5-B7DC-49BC-7456-F37AB59D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806FB-9DFA-84C8-6A3C-E05D405A3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DF434F-6725-5B8E-F0F0-0D98FEDB7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43D930-BB66-879E-4BB8-079A9594D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AD113F-E2E4-47C6-9A72-6EF313BE8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E110CF-2CAB-624F-3586-DA3CA58A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C10CF0-2634-A83E-FC86-3E144E93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F8A675-936F-BB00-3452-367517EE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18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6A805-66E2-5F06-E0C4-5C7477B7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65A3E1-6133-5B70-ACFA-CF4061C2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D7DB94-ADFB-4643-3E72-A1F305C1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0A9D07-F6FB-B3BF-FCDE-D2248B81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81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971B8B-AB7B-08C0-E705-83EFE6E1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D6EDCB-8843-7133-949D-4ED8811F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D618FF-4C41-FAB2-7B08-977F2C5F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36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F8DA9-1B0C-B97A-F431-FE938452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8EEBE8-F47A-AB00-DBDC-81680BE6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1A4775-6E11-F17B-4323-5C8C5A1AA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7C77BF-AD48-A589-F075-7CF9D967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51BB7-7204-8595-8557-6DDE7BE9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2E61D8-1528-48BF-44E8-0CB1865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61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2DC7B-ADE0-A61D-B087-8E4FDE7E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946D5E-564C-C7CF-69DF-190DA6960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47F753-AB71-1746-7F72-6BCB2CA43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1F4E3D-8266-27A4-501F-ED798E2B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D1E988-B77E-D6CD-85DB-C77CB9AC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E1FAA0-A953-0D49-114E-A546474F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9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2B8F-B3C8-35E6-666A-16199907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9ED2B-D120-146A-4C77-E640D46BC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6109F-72EC-B8CB-A277-9E4FBCDC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8B548-AB96-D064-CB3B-78DD9BBF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4C4ED-D222-6E6E-92E4-F937556D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44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BCBACF-9100-276F-392C-0ABA36269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3F8E95-6090-F57A-F840-039C23411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B7C70-F55C-A01D-910B-FA30133F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8E9FD-D866-820E-22B7-D9F2A3F8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1F2EEE-81F4-E351-3E29-86AA84AD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5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DFD21F-B1D4-F243-EADE-7C935376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83CE3-3782-4D13-D177-E2DB68034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1F6FA-557D-33FC-5487-655BAD2FE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E7FBC1-7BD1-9796-5B42-04993B3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AE692-D0DE-83DE-8305-5AB2BC4DE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12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56D4D2F-B216-F730-3694-0166C2CBD1DA}"/>
              </a:ext>
            </a:extLst>
          </p:cNvPr>
          <p:cNvSpPr/>
          <p:nvPr/>
        </p:nvSpPr>
        <p:spPr>
          <a:xfrm>
            <a:off x="100781" y="285344"/>
            <a:ext cx="11990437" cy="20686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832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02C2BD9D-20D4-0135-FED0-A531B1F383BC}"/>
              </a:ext>
            </a:extLst>
          </p:cNvPr>
          <p:cNvSpPr/>
          <p:nvPr/>
        </p:nvSpPr>
        <p:spPr>
          <a:xfrm>
            <a:off x="4011300" y="346694"/>
            <a:ext cx="7998636" cy="1539834"/>
          </a:xfrm>
          <a:prstGeom prst="roundRect">
            <a:avLst/>
          </a:prstGeom>
          <a:solidFill>
            <a:srgbClr val="F8FAFC"/>
          </a:solidFill>
          <a:ln w="1270">
            <a:solidFill>
              <a:srgbClr val="F8FAF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A95DDD-8D2B-6EFA-59BA-CC9F783599A9}"/>
              </a:ext>
            </a:extLst>
          </p:cNvPr>
          <p:cNvSpPr/>
          <p:nvPr/>
        </p:nvSpPr>
        <p:spPr>
          <a:xfrm>
            <a:off x="1211562" y="891705"/>
            <a:ext cx="2313617" cy="5584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4605">
            <a:solidFill>
              <a:srgbClr val="7E91A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F7070D-6994-98CF-0E8F-4DF95B1A7B03}"/>
              </a:ext>
            </a:extLst>
          </p:cNvPr>
          <p:cNvSpPr txBox="1"/>
          <p:nvPr/>
        </p:nvSpPr>
        <p:spPr>
          <a:xfrm>
            <a:off x="100781" y="895331"/>
            <a:ext cx="1110781" cy="246221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526577"/>
                </a:solidFill>
                <a:latin typeface="Times New Roman" panose="02020603050405020304" pitchFamily="18" charset="0"/>
              </a:rPr>
              <a:t>Concept anchor </a:t>
            </a:r>
            <a:endParaRPr lang="zh-CN" altLang="en-US" sz="1000" dirty="0">
              <a:solidFill>
                <a:srgbClr val="526577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EA4358-EAFD-BEE0-F134-492424B83AAE}"/>
              </a:ext>
            </a:extLst>
          </p:cNvPr>
          <p:cNvSpPr txBox="1"/>
          <p:nvPr/>
        </p:nvSpPr>
        <p:spPr>
          <a:xfrm>
            <a:off x="1358849" y="986269"/>
            <a:ext cx="2166330" cy="276999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“road”+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18324B"/>
                </a:solidFill>
                <a:effectLst/>
                <a:latin typeface="Times New Roman" panose="02020603050405020304" pitchFamily="18" charset="0"/>
              </a:rPr>
              <a:t> aliases</a:t>
            </a:r>
            <a:endParaRPr lang="zh-CN" altLang="en-US" sz="1200" b="1" dirty="0">
              <a:solidFill>
                <a:srgbClr val="18324B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26ECFD2-E74B-7DC9-9934-0F8845E97475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525179" y="1168222"/>
            <a:ext cx="408582" cy="2713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AF85359-9CD2-D05A-3298-DB60A784E6C9}"/>
              </a:ext>
            </a:extLst>
          </p:cNvPr>
          <p:cNvSpPr txBox="1"/>
          <p:nvPr/>
        </p:nvSpPr>
        <p:spPr>
          <a:xfrm>
            <a:off x="557774" y="270408"/>
            <a:ext cx="3706696" cy="353943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700" b="1" dirty="0">
                <a:solidFill>
                  <a:srgbClr val="18324B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(a) </a:t>
            </a:r>
            <a:r>
              <a:rPr lang="en-US" altLang="zh-CN" sz="17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Role-Functional Text</a:t>
            </a:r>
            <a:r>
              <a:rPr lang="en-US" altLang="zh-CN" sz="1700" b="1" dirty="0">
                <a:solidFill>
                  <a:srgbClr val="18324B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zh-CN" altLang="en-US" sz="1700" b="1" dirty="0">
              <a:solidFill>
                <a:srgbClr val="18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3776663-499F-0BA9-3DEE-F3BD337FE33F}"/>
              </a:ext>
            </a:extLst>
          </p:cNvPr>
          <p:cNvGrpSpPr/>
          <p:nvPr/>
        </p:nvGrpSpPr>
        <p:grpSpPr>
          <a:xfrm>
            <a:off x="4157074" y="639740"/>
            <a:ext cx="2436354" cy="1153505"/>
            <a:chOff x="5431168" y="2684156"/>
            <a:chExt cx="2410635" cy="1153505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E0B2DF2A-2E47-EFE7-9747-1959B91701DA}"/>
                </a:ext>
              </a:extLst>
            </p:cNvPr>
            <p:cNvSpPr/>
            <p:nvPr/>
          </p:nvSpPr>
          <p:spPr>
            <a:xfrm>
              <a:off x="5431168" y="2684156"/>
              <a:ext cx="2410635" cy="110231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7452A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BB5DF56-42BC-826F-01DD-AD6EC554C54D}"/>
                </a:ext>
              </a:extLst>
            </p:cNvPr>
            <p:cNvGrpSpPr/>
            <p:nvPr/>
          </p:nvGrpSpPr>
          <p:grpSpPr>
            <a:xfrm>
              <a:off x="5546143" y="2688015"/>
              <a:ext cx="2295660" cy="1149646"/>
              <a:chOff x="5497555" y="3667484"/>
              <a:chExt cx="2295660" cy="1149646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73D1CF1-B938-9A27-ACF9-A24B9C8DE3A9}"/>
                  </a:ext>
                </a:extLst>
              </p:cNvPr>
              <p:cNvSpPr txBox="1"/>
              <p:nvPr/>
            </p:nvSpPr>
            <p:spPr>
              <a:xfrm rot="5400000">
                <a:off x="5044543" y="4120496"/>
                <a:ext cx="1149646" cy="243622"/>
              </a:xfrm>
              <a:prstGeom prst="rect">
                <a:avLst/>
              </a:prstGeom>
              <a:noFill/>
              <a:ln w="12700">
                <a:solidFill>
                  <a:srgbClr val="7452A6"/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18324B"/>
                    </a:solidFill>
                    <a:latin typeface="Times New Roman" panose="02020603050405020304" pitchFamily="18" charset="0"/>
                  </a:rPr>
                  <a:t>Presence</a:t>
                </a:r>
                <a:endParaRPr lang="zh-CN" altLang="en-US" sz="1000" dirty="0">
                  <a:solidFill>
                    <a:srgbClr val="18324B"/>
                  </a:solidFill>
                  <a:latin typeface="Times New Roman" panose="02020603050405020304" pitchFamily="18" charset="0"/>
                </a:endParaRPr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9012319E-36B8-4A89-CA8E-0F6B6D5FD4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1420" y="4102314"/>
                <a:ext cx="1642492" cy="601936"/>
              </a:xfrm>
              <a:prstGeom prst="rect">
                <a:avLst/>
              </a:prstGeom>
              <a:ln w="12700">
                <a:solidFill>
                  <a:srgbClr val="7452A6"/>
                </a:solidFill>
                <a:prstDash val="solid"/>
              </a:ln>
            </p:spPr>
          </p:pic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21452CD-E864-6D0B-D9C3-A2649726CB49}"/>
                  </a:ext>
                </a:extLst>
              </p:cNvPr>
              <p:cNvSpPr txBox="1"/>
              <p:nvPr/>
            </p:nvSpPr>
            <p:spPr>
              <a:xfrm>
                <a:off x="5865503" y="3667484"/>
                <a:ext cx="1927712" cy="246221"/>
              </a:xfrm>
              <a:prstGeom prst="rect">
                <a:avLst/>
              </a:prstGeom>
              <a:noFill/>
              <a:ln w="12700">
                <a:solidFill>
                  <a:srgbClr val="7452A6"/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18324B"/>
                    </a:solidFill>
                    <a:latin typeface="Times New Roman" panose="02020603050405020304" pitchFamily="18" charset="0"/>
                  </a:rPr>
                  <a:t>“Road network”</a:t>
                </a:r>
                <a:endParaRPr lang="zh-CN" altLang="en-US" sz="1000" dirty="0">
                  <a:solidFill>
                    <a:srgbClr val="18324B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7F7663E-CE1A-809B-12A3-F4A94B8775CD}"/>
              </a:ext>
            </a:extLst>
          </p:cNvPr>
          <p:cNvGrpSpPr/>
          <p:nvPr/>
        </p:nvGrpSpPr>
        <p:grpSpPr>
          <a:xfrm>
            <a:off x="6757942" y="639739"/>
            <a:ext cx="2514604" cy="1126992"/>
            <a:chOff x="7082093" y="572831"/>
            <a:chExt cx="2514604" cy="1178686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1DE4637E-F21B-0A69-131D-DAE674E581D3}"/>
                </a:ext>
              </a:extLst>
            </p:cNvPr>
            <p:cNvSpPr/>
            <p:nvPr/>
          </p:nvSpPr>
          <p:spPr>
            <a:xfrm>
              <a:off x="7082093" y="572833"/>
              <a:ext cx="2484297" cy="1178684"/>
            </a:xfrm>
            <a:prstGeom prst="roundRect">
              <a:avLst/>
            </a:prstGeom>
            <a:solidFill>
              <a:srgbClr val="F2FBEF"/>
            </a:solidFill>
            <a:ln w="12700">
              <a:solidFill>
                <a:srgbClr val="2B7E79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853A5D2-038E-FE36-AA11-D9F60580139C}"/>
                </a:ext>
              </a:extLst>
            </p:cNvPr>
            <p:cNvGrpSpPr/>
            <p:nvPr/>
          </p:nvGrpSpPr>
          <p:grpSpPr>
            <a:xfrm>
              <a:off x="7204626" y="572831"/>
              <a:ext cx="2392071" cy="1145048"/>
              <a:chOff x="5524193" y="3925226"/>
              <a:chExt cx="2392071" cy="1211446"/>
            </a:xfrm>
          </p:grpSpPr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0CE9E11-E198-4B21-6D94-0DC08C0E38E2}"/>
                  </a:ext>
                </a:extLst>
              </p:cNvPr>
              <p:cNvSpPr txBox="1"/>
              <p:nvPr/>
            </p:nvSpPr>
            <p:spPr>
              <a:xfrm rot="5400000">
                <a:off x="5048955" y="4415212"/>
                <a:ext cx="1196698" cy="246221"/>
              </a:xfrm>
              <a:prstGeom prst="rect">
                <a:avLst/>
              </a:prstGeom>
              <a:noFill/>
              <a:ln w="12700">
                <a:solidFill>
                  <a:srgbClr val="2B7E79"/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18324B"/>
                    </a:solidFill>
                    <a:latin typeface="Times New Roman" panose="02020603050405020304" pitchFamily="18" charset="0"/>
                  </a:rPr>
                  <a:t>Semantic</a:t>
                </a:r>
                <a:endParaRPr lang="zh-CN" altLang="en-US" sz="1000" dirty="0">
                  <a:solidFill>
                    <a:srgbClr val="18324B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9F87637-CAF7-4DED-57D4-091022D59FF1}"/>
                  </a:ext>
                </a:extLst>
              </p:cNvPr>
              <p:cNvSpPr txBox="1"/>
              <p:nvPr/>
            </p:nvSpPr>
            <p:spPr>
              <a:xfrm>
                <a:off x="5629102" y="3925226"/>
                <a:ext cx="2256855" cy="272448"/>
              </a:xfrm>
              <a:prstGeom prst="rect">
                <a:avLst/>
              </a:prstGeom>
              <a:noFill/>
              <a:ln w="12700">
                <a:solidFill>
                  <a:srgbClr val="2B7E79"/>
                </a:solidFill>
                <a:prstDash val="solid"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rgbClr val="18324B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zh-CN" altLang="en-US" sz="1000" dirty="0">
                    <a:solidFill>
                      <a:srgbClr val="18324B"/>
                    </a:solidFill>
                    <a:latin typeface="Times New Roman" panose="02020603050405020304" pitchFamily="18" charset="0"/>
                  </a:rPr>
                  <a:t>continuous paved road surface</a:t>
                </a:r>
                <a:r>
                  <a:rPr lang="en-US" altLang="zh-CN" sz="1000" dirty="0">
                    <a:solidFill>
                      <a:srgbClr val="18324B"/>
                    </a:solidFill>
                    <a:latin typeface="Times New Roman" panose="02020603050405020304" pitchFamily="18" charset="0"/>
                  </a:rPr>
                  <a:t>”</a:t>
                </a:r>
                <a:endParaRPr lang="zh-CN" altLang="en-US" sz="1000" dirty="0">
                  <a:solidFill>
                    <a:srgbClr val="18324B"/>
                  </a:solidFill>
                  <a:latin typeface="Times New Roman" panose="02020603050405020304" pitchFamily="18" charset="0"/>
                </a:endParaRPr>
              </a:p>
            </p:txBody>
          </p:sp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6C67BED3-AE5C-0023-EAA8-548ECC848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6309" y="4348225"/>
                <a:ext cx="2259955" cy="733140"/>
              </a:xfrm>
              <a:prstGeom prst="rect">
                <a:avLst/>
              </a:prstGeom>
              <a:ln w="12700">
                <a:solidFill>
                  <a:srgbClr val="2B7E79"/>
                </a:solidFill>
                <a:prstDash val="solid"/>
              </a:ln>
            </p:spPr>
          </p:pic>
        </p:grp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EA843F7-BB89-1A2F-6972-109993FF5E21}"/>
              </a:ext>
            </a:extLst>
          </p:cNvPr>
          <p:cNvGrpSpPr/>
          <p:nvPr/>
        </p:nvGrpSpPr>
        <p:grpSpPr>
          <a:xfrm>
            <a:off x="9398814" y="639741"/>
            <a:ext cx="2514604" cy="1122560"/>
            <a:chOff x="5431168" y="4910921"/>
            <a:chExt cx="2514604" cy="1196699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3E56986-4495-5B83-3424-70CE84AFEB96}"/>
                </a:ext>
              </a:extLst>
            </p:cNvPr>
            <p:cNvSpPr/>
            <p:nvPr/>
          </p:nvSpPr>
          <p:spPr>
            <a:xfrm>
              <a:off x="5431168" y="4910921"/>
              <a:ext cx="2514604" cy="1196697"/>
            </a:xfrm>
            <a:prstGeom prst="roundRect">
              <a:avLst/>
            </a:prstGeom>
            <a:solidFill>
              <a:srgbClr val="FEF8F4"/>
            </a:solidFill>
            <a:ln w="12700">
              <a:solidFill>
                <a:srgbClr val="C27539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E6E8DBC-763E-8784-9E90-4558EAAD5361}"/>
                </a:ext>
              </a:extLst>
            </p:cNvPr>
            <p:cNvSpPr txBox="1"/>
            <p:nvPr/>
          </p:nvSpPr>
          <p:spPr>
            <a:xfrm rot="5400000">
              <a:off x="5119135" y="5386160"/>
              <a:ext cx="1196698" cy="246221"/>
            </a:xfrm>
            <a:prstGeom prst="rect">
              <a:avLst/>
            </a:prstGeom>
            <a:noFill/>
            <a:ln w="12700">
              <a:solidFill>
                <a:srgbClr val="C27539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18324B"/>
                  </a:solidFill>
                  <a:latin typeface="Times New Roman" panose="02020603050405020304" pitchFamily="18" charset="0"/>
                </a:rPr>
                <a:t>Instance</a:t>
              </a:r>
              <a:endParaRPr lang="zh-CN" altLang="en-US" sz="1000" dirty="0">
                <a:solidFill>
                  <a:srgbClr val="18324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F4905F5-6508-BEE9-0AE5-9C7C4A739CE8}"/>
                </a:ext>
              </a:extLst>
            </p:cNvPr>
            <p:cNvSpPr txBox="1"/>
            <p:nvPr/>
          </p:nvSpPr>
          <p:spPr>
            <a:xfrm>
              <a:off x="5763690" y="4917678"/>
              <a:ext cx="2046693" cy="262483"/>
            </a:xfrm>
            <a:prstGeom prst="rect">
              <a:avLst/>
            </a:prstGeom>
            <a:noFill/>
            <a:ln w="12700">
              <a:solidFill>
                <a:srgbClr val="C27539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rgbClr val="18324B"/>
                  </a:solidFill>
                  <a:latin typeface="Times New Roman" panose="02020603050405020304" pitchFamily="18" charset="0"/>
                </a:rPr>
                <a:t>“connected road region”</a:t>
              </a:r>
              <a:endParaRPr lang="zh-CN" altLang="en-US" sz="1000" dirty="0">
                <a:solidFill>
                  <a:srgbClr val="18324B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174912A3-A789-7ECE-D046-C333645AC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0032" y="5451143"/>
              <a:ext cx="1614008" cy="439369"/>
            </a:xfrm>
            <a:prstGeom prst="rect">
              <a:avLst/>
            </a:prstGeom>
            <a:ln w="12700">
              <a:solidFill>
                <a:srgbClr val="C27539"/>
              </a:solidFill>
              <a:prstDash val="solid"/>
            </a:ln>
          </p:spPr>
        </p:pic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D496B55-C263-346A-26BB-FACF2564BA06}"/>
                </a:ext>
              </a:extLst>
            </p:cNvPr>
            <p:cNvCxnSpPr/>
            <p:nvPr/>
          </p:nvCxnSpPr>
          <p:spPr>
            <a:xfrm>
              <a:off x="6505128" y="5502453"/>
              <a:ext cx="0" cy="388059"/>
            </a:xfrm>
            <a:prstGeom prst="line">
              <a:avLst/>
            </a:prstGeom>
            <a:ln w="12700" cap="flat" cmpd="sng" algn="ctr">
              <a:solidFill>
                <a:srgbClr val="C2753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B2AE8B0-CCAA-1C17-D00E-13E4F37503D4}"/>
                </a:ext>
              </a:extLst>
            </p:cNvPr>
            <p:cNvCxnSpPr>
              <a:cxnSpLocks/>
            </p:cNvCxnSpPr>
            <p:nvPr/>
          </p:nvCxnSpPr>
          <p:spPr>
            <a:xfrm>
              <a:off x="7235420" y="5554961"/>
              <a:ext cx="0" cy="434666"/>
            </a:xfrm>
            <a:prstGeom prst="line">
              <a:avLst/>
            </a:prstGeom>
            <a:ln w="12700" cap="flat" cmpd="sng" algn="ctr">
              <a:solidFill>
                <a:srgbClr val="C2753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A997FA21-49D1-AF88-054F-B5ED1100172A}"/>
              </a:ext>
            </a:extLst>
          </p:cNvPr>
          <p:cNvSpPr/>
          <p:nvPr/>
        </p:nvSpPr>
        <p:spPr>
          <a:xfrm>
            <a:off x="100781" y="2403232"/>
            <a:ext cx="4802612" cy="34411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832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1EA424D3-9675-615A-4705-66F724A78B28}"/>
              </a:ext>
            </a:extLst>
          </p:cNvPr>
          <p:cNvSpPr/>
          <p:nvPr/>
        </p:nvSpPr>
        <p:spPr>
          <a:xfrm>
            <a:off x="180561" y="2828861"/>
            <a:ext cx="4633368" cy="2903968"/>
          </a:xfrm>
          <a:prstGeom prst="roundRect">
            <a:avLst/>
          </a:prstGeom>
          <a:solidFill>
            <a:srgbClr val="F7FBFD"/>
          </a:solidFill>
          <a:ln w="1270">
            <a:solidFill>
              <a:srgbClr val="F7FB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1157BC7-1CE7-7353-97C1-B8EBE2002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68" y="3750966"/>
            <a:ext cx="1317199" cy="908265"/>
          </a:xfrm>
          <a:prstGeom prst="rect">
            <a:avLst/>
          </a:prstGeom>
          <a:ln w="14605">
            <a:solidFill>
              <a:srgbClr val="7E91A1"/>
            </a:solidFill>
            <a:prstDash val="solid"/>
          </a:ln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33EC4CFA-9429-F7FE-8F84-95F0EC0163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463" y="4406331"/>
            <a:ext cx="2213764" cy="908265"/>
          </a:xfrm>
          <a:prstGeom prst="rect">
            <a:avLst/>
          </a:prstGeom>
          <a:ln w="14605">
            <a:solidFill>
              <a:srgbClr val="7E91A1"/>
            </a:solidFill>
            <a:prstDash val="solid"/>
          </a:ln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DEBF1326-CA0B-C465-ABBC-0E3520E785E7}"/>
              </a:ext>
            </a:extLst>
          </p:cNvPr>
          <p:cNvSpPr txBox="1"/>
          <p:nvPr/>
        </p:nvSpPr>
        <p:spPr>
          <a:xfrm>
            <a:off x="2182202" y="5382009"/>
            <a:ext cx="2269090" cy="246221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C27539"/>
                </a:solidFill>
                <a:latin typeface="Times New Roman" panose="02020603050405020304" pitchFamily="18" charset="0"/>
              </a:rPr>
              <a:t>Wide-context view</a:t>
            </a:r>
            <a:endParaRPr lang="zh-CN" altLang="en-US" sz="1000" b="1" dirty="0">
              <a:solidFill>
                <a:srgbClr val="C2753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D579E0A-77BD-2DEA-54BB-062FFC90BE00}"/>
              </a:ext>
            </a:extLst>
          </p:cNvPr>
          <p:cNvGrpSpPr/>
          <p:nvPr/>
        </p:nvGrpSpPr>
        <p:grpSpPr>
          <a:xfrm>
            <a:off x="2210463" y="2966610"/>
            <a:ext cx="2161694" cy="1090173"/>
            <a:chOff x="2108481" y="3677832"/>
            <a:chExt cx="1967865" cy="1090173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55FA2BA5-447F-FE08-C58F-1A0CD068D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08481" y="3677832"/>
              <a:ext cx="1095087" cy="877694"/>
            </a:xfrm>
            <a:prstGeom prst="rect">
              <a:avLst/>
            </a:prstGeom>
            <a:ln w="14605">
              <a:solidFill>
                <a:srgbClr val="7E91A1"/>
              </a:solidFill>
              <a:prstDash val="solid"/>
            </a:ln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6F3472AF-CE24-AB37-0EB1-922615D68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53809" y="3790274"/>
              <a:ext cx="1094019" cy="865289"/>
            </a:xfrm>
            <a:prstGeom prst="rect">
              <a:avLst/>
            </a:prstGeom>
            <a:ln w="14605">
              <a:solidFill>
                <a:srgbClr val="7E91A1"/>
              </a:solidFill>
              <a:prstDash val="solid"/>
            </a:ln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BF6CF8F5-CEAB-1D25-2285-7F5DBC012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77618" y="3902716"/>
              <a:ext cx="1198728" cy="865289"/>
            </a:xfrm>
            <a:prstGeom prst="rect">
              <a:avLst/>
            </a:prstGeom>
            <a:ln w="14605">
              <a:solidFill>
                <a:srgbClr val="7E91A1"/>
              </a:solidFill>
              <a:prstDash val="solid"/>
            </a:ln>
          </p:spPr>
        </p:pic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D6E6D384-67E8-35F9-D655-C493F9AA4B46}"/>
              </a:ext>
            </a:extLst>
          </p:cNvPr>
          <p:cNvSpPr txBox="1"/>
          <p:nvPr/>
        </p:nvSpPr>
        <p:spPr>
          <a:xfrm>
            <a:off x="2103734" y="4006059"/>
            <a:ext cx="2269090" cy="246221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2B7E79"/>
                </a:solidFill>
                <a:latin typeface="Times New Roman" panose="02020603050405020304" pitchFamily="18" charset="0"/>
              </a:rPr>
              <a:t>Local-detail view</a:t>
            </a:r>
            <a:endParaRPr lang="zh-CN" altLang="en-US" sz="1000" b="1" dirty="0">
              <a:solidFill>
                <a:srgbClr val="2B7E79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1E0F83AB-313C-30EC-8829-3A3AAD4D0006}"/>
              </a:ext>
            </a:extLst>
          </p:cNvPr>
          <p:cNvCxnSpPr>
            <a:stCxn id="66" idx="3"/>
            <a:endCxn id="71" idx="1"/>
          </p:cNvCxnSpPr>
          <p:nvPr/>
        </p:nvCxnSpPr>
        <p:spPr>
          <a:xfrm flipV="1">
            <a:off x="1644567" y="3405457"/>
            <a:ext cx="565896" cy="799642"/>
          </a:xfrm>
          <a:prstGeom prst="bentConnector3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07766B75-3BED-75B8-6B3C-67B0A5FBF8EC}"/>
              </a:ext>
            </a:extLst>
          </p:cNvPr>
          <p:cNvCxnSpPr>
            <a:endCxn id="68" idx="1"/>
          </p:cNvCxnSpPr>
          <p:nvPr/>
        </p:nvCxnSpPr>
        <p:spPr>
          <a:xfrm rot="16200000" flipH="1">
            <a:off x="1719125" y="4369125"/>
            <a:ext cx="705481" cy="277196"/>
          </a:xfrm>
          <a:prstGeom prst="bentConnector2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C51E2F38-EE92-2AC8-56E4-EB47E4EAD755}"/>
              </a:ext>
            </a:extLst>
          </p:cNvPr>
          <p:cNvSpPr txBox="1"/>
          <p:nvPr/>
        </p:nvSpPr>
        <p:spPr>
          <a:xfrm>
            <a:off x="264361" y="4659231"/>
            <a:ext cx="1443212" cy="246221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577"/>
                </a:solidFill>
                <a:latin typeface="Times New Roman" panose="02020603050405020304" pitchFamily="18" charset="0"/>
              </a:rPr>
              <a:t>Input image</a:t>
            </a:r>
            <a:endParaRPr lang="zh-CN" altLang="en-US" sz="1000" dirty="0">
              <a:solidFill>
                <a:srgbClr val="526577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B9E82D2-31F9-9D92-6592-517616A13F5A}"/>
              </a:ext>
            </a:extLst>
          </p:cNvPr>
          <p:cNvSpPr txBox="1"/>
          <p:nvPr/>
        </p:nvSpPr>
        <p:spPr>
          <a:xfrm>
            <a:off x="294637" y="2423687"/>
            <a:ext cx="4719765" cy="338554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18324B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(b) </a:t>
            </a:r>
            <a:r>
              <a:rPr lang="en-US" altLang="zh-CN" sz="16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Local and Context Observations</a:t>
            </a:r>
            <a:endParaRPr lang="zh-CN" altLang="en-US" sz="1600" b="1" dirty="0">
              <a:solidFill>
                <a:srgbClr val="18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118CAC8-4394-EE9B-BE96-BD49F205BA84}"/>
              </a:ext>
            </a:extLst>
          </p:cNvPr>
          <p:cNvCxnSpPr>
            <a:cxnSpLocks/>
            <a:stCxn id="40" idx="2"/>
            <a:endCxn id="30" idx="0"/>
          </p:cNvCxnSpPr>
          <p:nvPr/>
        </p:nvCxnSpPr>
        <p:spPr>
          <a:xfrm>
            <a:off x="5375251" y="1742059"/>
            <a:ext cx="0" cy="199638"/>
          </a:xfrm>
          <a:prstGeom prst="straightConnector1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CBCC1CEA-B649-37C5-834C-3E117BD248B3}"/>
              </a:ext>
            </a:extLst>
          </p:cNvPr>
          <p:cNvSpPr txBox="1"/>
          <p:nvPr/>
        </p:nvSpPr>
        <p:spPr>
          <a:xfrm>
            <a:off x="6739202" y="311960"/>
            <a:ext cx="3307752" cy="323165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Functional Supplements</a:t>
            </a:r>
            <a:endParaRPr lang="zh-CN" altLang="en-US" sz="1500" b="1" dirty="0">
              <a:solidFill>
                <a:srgbClr val="18324B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98946A-0E3B-67D8-E47C-81D18F370E9A}"/>
              </a:ext>
            </a:extLst>
          </p:cNvPr>
          <p:cNvSpPr txBox="1"/>
          <p:nvPr/>
        </p:nvSpPr>
        <p:spPr>
          <a:xfrm>
            <a:off x="5782685" y="2405005"/>
            <a:ext cx="4719765" cy="338554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18324B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(c) Joint Role-View Composition</a:t>
            </a:r>
            <a:endParaRPr lang="zh-CN" altLang="en-US" sz="1600" b="1" dirty="0">
              <a:solidFill>
                <a:srgbClr val="18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D6442F-5151-4B99-F28F-CB569AA64D70}"/>
              </a:ext>
            </a:extLst>
          </p:cNvPr>
          <p:cNvGrpSpPr/>
          <p:nvPr/>
        </p:nvGrpSpPr>
        <p:grpSpPr>
          <a:xfrm>
            <a:off x="5144085" y="2927787"/>
            <a:ext cx="469150" cy="2559942"/>
            <a:chOff x="5648726" y="2702506"/>
            <a:chExt cx="469150" cy="2559942"/>
          </a:xfrm>
          <a:solidFill>
            <a:srgbClr val="E8F0F9"/>
          </a:solidFill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F621578-3743-BB1E-12B6-EBB28AA928D8}"/>
                </a:ext>
              </a:extLst>
            </p:cNvPr>
            <p:cNvSpPr/>
            <p:nvPr/>
          </p:nvSpPr>
          <p:spPr>
            <a:xfrm>
              <a:off x="5648726" y="2702506"/>
              <a:ext cx="469150" cy="2559942"/>
            </a:xfrm>
            <a:prstGeom prst="roundRect">
              <a:avLst/>
            </a:prstGeom>
            <a:grpFill/>
            <a:ln w="17780">
              <a:solidFill>
                <a:srgbClr val="18324B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rgbClr val="18324B"/>
                  </a:solidFill>
                  <a:latin typeface="Times New Roman" panose="02020603050405020304" pitchFamily="18" charset="0"/>
                </a:rPr>
                <a:t>SAM3</a:t>
              </a:r>
              <a:endParaRPr lang="zh-CN" altLang="en-US" sz="1000" dirty="0">
                <a:solidFill>
                  <a:srgbClr val="18324B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9" name="图形 8" descr="雪花 纯色填充">
              <a:extLst>
                <a:ext uri="{FF2B5EF4-FFF2-40B4-BE49-F238E27FC236}">
                  <a16:creationId xmlns:a16="http://schemas.microsoft.com/office/drawing/2014/main" id="{DC184005-5E5D-E634-A081-02461FEBC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98635" y="3028662"/>
              <a:ext cx="369332" cy="369332"/>
            </a:xfrm>
            <a:prstGeom prst="rect">
              <a:avLst/>
            </a:prstGeom>
          </p:spPr>
        </p:pic>
      </p:grp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D222CE1-5D3B-8783-3ED1-C8B716DA09EB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4372157" y="3624139"/>
            <a:ext cx="771928" cy="0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BBD2FBF-62F0-EA6A-D57D-DDC0C1C8865F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4424227" y="4860464"/>
            <a:ext cx="719858" cy="0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217C120-A2BC-61E0-79FB-C20471E51CFC}"/>
              </a:ext>
            </a:extLst>
          </p:cNvPr>
          <p:cNvCxnSpPr>
            <a:cxnSpLocks/>
          </p:cNvCxnSpPr>
          <p:nvPr/>
        </p:nvCxnSpPr>
        <p:spPr>
          <a:xfrm>
            <a:off x="5375251" y="2274305"/>
            <a:ext cx="0" cy="653482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98D2442-3790-042A-69BE-64A08F632027}"/>
              </a:ext>
            </a:extLst>
          </p:cNvPr>
          <p:cNvSpPr/>
          <p:nvPr/>
        </p:nvSpPr>
        <p:spPr>
          <a:xfrm>
            <a:off x="4122920" y="1941697"/>
            <a:ext cx="2504661" cy="332608"/>
          </a:xfrm>
          <a:prstGeom prst="roundRect">
            <a:avLst/>
          </a:prstGeom>
          <a:solidFill>
            <a:srgbClr val="E8F0F9"/>
          </a:solidFill>
          <a:ln w="16510">
            <a:solidFill>
              <a:srgbClr val="4C79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Shared role profile</a:t>
            </a:r>
            <a:endParaRPr lang="zh-CN" altLang="en-US" sz="1000" b="1" dirty="0">
              <a:solidFill>
                <a:srgbClr val="18324B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69B9D55-F02C-21DC-92AF-54086C43A15C}"/>
              </a:ext>
            </a:extLst>
          </p:cNvPr>
          <p:cNvCxnSpPr>
            <a:stCxn id="4" idx="2"/>
            <a:endCxn id="30" idx="1"/>
          </p:cNvCxnSpPr>
          <p:nvPr/>
        </p:nvCxnSpPr>
        <p:spPr>
          <a:xfrm rot="16200000" flipH="1">
            <a:off x="2916727" y="901807"/>
            <a:ext cx="657837" cy="1754549"/>
          </a:xfrm>
          <a:prstGeom prst="bentConnector2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E445667A-BDA2-583C-2DF1-4888BDC29A4C}"/>
              </a:ext>
            </a:extLst>
          </p:cNvPr>
          <p:cNvCxnSpPr>
            <a:stCxn id="46" idx="2"/>
            <a:endCxn id="30" idx="3"/>
          </p:cNvCxnSpPr>
          <p:nvPr/>
        </p:nvCxnSpPr>
        <p:spPr>
          <a:xfrm rot="5400000">
            <a:off x="7143201" y="1251111"/>
            <a:ext cx="341270" cy="1372510"/>
          </a:xfrm>
          <a:prstGeom prst="bentConnector2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F3544D12-EDD8-3ACC-7C82-944E6652B618}"/>
              </a:ext>
            </a:extLst>
          </p:cNvPr>
          <p:cNvCxnSpPr/>
          <p:nvPr/>
        </p:nvCxnSpPr>
        <p:spPr>
          <a:xfrm rot="10800000" flipV="1">
            <a:off x="8000090" y="1781666"/>
            <a:ext cx="2674536" cy="324407"/>
          </a:xfrm>
          <a:prstGeom prst="bentConnector3">
            <a:avLst>
              <a:gd name="adj1" fmla="val -45"/>
            </a:avLst>
          </a:prstGeom>
          <a:ln w="14605">
            <a:solidFill>
              <a:srgbClr val="7E91A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0E1EE1B-6674-115D-52A1-44C05D28630B}"/>
              </a:ext>
            </a:extLst>
          </p:cNvPr>
          <p:cNvSpPr/>
          <p:nvPr/>
        </p:nvSpPr>
        <p:spPr>
          <a:xfrm>
            <a:off x="5919287" y="3446030"/>
            <a:ext cx="1226332" cy="1585535"/>
          </a:xfrm>
          <a:prstGeom prst="roundRect">
            <a:avLst/>
          </a:prstGeom>
          <a:solidFill>
            <a:srgbClr val="E8F0F9"/>
          </a:solidFill>
          <a:ln w="16510">
            <a:solidFill>
              <a:srgbClr val="4C79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Bounded residual correction</a:t>
            </a:r>
            <a:endParaRPr lang="zh-CN" altLang="en-US" sz="1000" b="1" dirty="0">
              <a:solidFill>
                <a:srgbClr val="18324B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8643572-A88A-3928-8E28-50A7EA7042DC}"/>
              </a:ext>
            </a:extLst>
          </p:cNvPr>
          <p:cNvCxnSpPr>
            <a:cxnSpLocks/>
          </p:cNvCxnSpPr>
          <p:nvPr/>
        </p:nvCxnSpPr>
        <p:spPr>
          <a:xfrm>
            <a:off x="5613235" y="4892547"/>
            <a:ext cx="306052" cy="0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1" name="图片 90">
            <a:extLst>
              <a:ext uri="{FF2B5EF4-FFF2-40B4-BE49-F238E27FC236}">
                <a16:creationId xmlns:a16="http://schemas.microsoft.com/office/drawing/2014/main" id="{1412510D-D85A-F226-E87C-5BC34E44E0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4830" y="3750966"/>
            <a:ext cx="1169802" cy="813091"/>
          </a:xfrm>
          <a:prstGeom prst="rect">
            <a:avLst/>
          </a:prstGeom>
          <a:ln w="14605">
            <a:solidFill>
              <a:srgbClr val="7E91A1"/>
            </a:solidFill>
            <a:prstDash val="solid"/>
          </a:ln>
        </p:spPr>
      </p:pic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51830E46-EC1B-D4B3-9EBA-55879BA41EAD}"/>
              </a:ext>
            </a:extLst>
          </p:cNvPr>
          <p:cNvCxnSpPr/>
          <p:nvPr/>
        </p:nvCxnSpPr>
        <p:spPr>
          <a:xfrm>
            <a:off x="5613235" y="3623275"/>
            <a:ext cx="306052" cy="0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EFAB7E1F-B793-DDC5-4C53-6D18EC5542A8}"/>
              </a:ext>
            </a:extLst>
          </p:cNvPr>
          <p:cNvCxnSpPr>
            <a:cxnSpLocks/>
          </p:cNvCxnSpPr>
          <p:nvPr/>
        </p:nvCxnSpPr>
        <p:spPr>
          <a:xfrm>
            <a:off x="7172864" y="3623275"/>
            <a:ext cx="827226" cy="0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7D297AA-D5C1-8DC5-7DA0-467F31CB6B85}"/>
              </a:ext>
            </a:extLst>
          </p:cNvPr>
          <p:cNvCxnSpPr>
            <a:cxnSpLocks/>
          </p:cNvCxnSpPr>
          <p:nvPr/>
        </p:nvCxnSpPr>
        <p:spPr>
          <a:xfrm>
            <a:off x="7172864" y="4892547"/>
            <a:ext cx="837754" cy="0"/>
          </a:xfrm>
          <a:prstGeom prst="straightConnector1">
            <a:avLst/>
          </a:prstGeom>
          <a:ln w="17780">
            <a:solidFill>
              <a:srgbClr val="18324B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4" name="Rectangle 1">
            <a:extLst>
              <a:ext uri="{FF2B5EF4-FFF2-40B4-BE49-F238E27FC236}">
                <a16:creationId xmlns:a16="http://schemas.microsoft.com/office/drawing/2014/main" id="{DED74BF7-1A8A-A2E0-D8D4-56A8120CD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4388" y="4005043"/>
            <a:ext cx="930840" cy="400110"/>
          </a:xfrm>
          <a:prstGeom prst="rect">
            <a:avLst/>
          </a:prstGeom>
          <a:solidFill>
            <a:srgbClr val="F8FAFC"/>
          </a:solidFill>
          <a:ln w="15240">
            <a:solidFill>
              <a:srgbClr val="7E91A1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rgbClr val="18324B"/>
                </a:solidFill>
                <a:effectLst/>
                <a:latin typeface="Times New Roman" panose="02020603050405020304" pitchFamily="18" charset="0"/>
              </a:rPr>
              <a:t>Native Role Composition 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44A67D23-6D4A-6E35-2412-CED8B7767810}"/>
              </a:ext>
            </a:extLst>
          </p:cNvPr>
          <p:cNvSpPr txBox="1"/>
          <p:nvPr/>
        </p:nvSpPr>
        <p:spPr>
          <a:xfrm>
            <a:off x="8175228" y="3919222"/>
            <a:ext cx="2566185" cy="246221"/>
          </a:xfrm>
          <a:prstGeom prst="rect">
            <a:avLst/>
          </a:prstGeom>
          <a:noFill/>
          <a:ln w="14605">
            <a:solidFill>
              <a:srgbClr val="7E91A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8324B"/>
                </a:solidFill>
                <a:latin typeface="Times New Roman" panose="02020603050405020304" pitchFamily="18" charset="0"/>
              </a:rPr>
              <a:t>Role-Aligned View Integration</a:t>
            </a:r>
            <a:endParaRPr lang="zh-CN" altLang="en-US" sz="1000" b="1" dirty="0">
              <a:solidFill>
                <a:srgbClr val="18324B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C32F99F5-12B0-BF5D-0CBB-C5B8A98BC2EF}"/>
              </a:ext>
            </a:extLst>
          </p:cNvPr>
          <p:cNvCxnSpPr>
            <a:endCxn id="126" idx="0"/>
          </p:cNvCxnSpPr>
          <p:nvPr/>
        </p:nvCxnSpPr>
        <p:spPr>
          <a:xfrm>
            <a:off x="8000090" y="3623275"/>
            <a:ext cx="1458231" cy="295947"/>
          </a:xfrm>
          <a:prstGeom prst="straightConnector1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77B3AA53-D9B7-8A09-EABD-0672339FCA00}"/>
              </a:ext>
            </a:extLst>
          </p:cNvPr>
          <p:cNvCxnSpPr>
            <a:endCxn id="126" idx="2"/>
          </p:cNvCxnSpPr>
          <p:nvPr/>
        </p:nvCxnSpPr>
        <p:spPr>
          <a:xfrm flipV="1">
            <a:off x="8000090" y="4165443"/>
            <a:ext cx="1458231" cy="727104"/>
          </a:xfrm>
          <a:prstGeom prst="straightConnector1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69798492-69D4-AB52-0D6A-5D7C12664D6F}"/>
              </a:ext>
            </a:extLst>
          </p:cNvPr>
          <p:cNvCxnSpPr>
            <a:cxnSpLocks/>
            <a:endCxn id="126" idx="3"/>
          </p:cNvCxnSpPr>
          <p:nvPr/>
        </p:nvCxnSpPr>
        <p:spPr>
          <a:xfrm flipV="1">
            <a:off x="10310191" y="4042333"/>
            <a:ext cx="431222" cy="129622"/>
          </a:xfrm>
          <a:prstGeom prst="straightConnector1">
            <a:avLst/>
          </a:prstGeom>
          <a:ln w="14605">
            <a:solidFill>
              <a:srgbClr val="7E91A1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167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64</Words>
  <Application>Microsoft Office PowerPoint</Application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倵 绫</dc:creator>
  <cp:lastModifiedBy>倵 绫</cp:lastModifiedBy>
  <cp:revision>8</cp:revision>
  <dcterms:created xsi:type="dcterms:W3CDTF">2026-10-26T10:41:44Z</dcterms:created>
  <dcterms:modified xsi:type="dcterms:W3CDTF">2026-10-27T08:33:45Z</dcterms:modified>
</cp:coreProperties>
</file>