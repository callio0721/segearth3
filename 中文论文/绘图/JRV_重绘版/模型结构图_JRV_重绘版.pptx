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4630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method figure. Source: author-kit-main/sec/3_method.tex, 中文论文/论文中文版.md, 最终方法规范.md. Prompt phrases are illustrative examples retained from the original PPT, not a claim that these exact slots are chosen for every dataset. Images are copied from the original PPT. Score stacks are schematic; no prediction map is fabricated. Each required prompt is fully grounded. Presence–Instance coupling and official alias compensation are expanded on slide 2. Profile selection is offline and dataset-level; see the manuscript for evaluation-set selection limitations. Local/Context photos illustrate the observation types and are not quantitative results. All text, blocks and arrows are editable PPT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detail corresponding to manuscript equations (4)–(8). Q denotes the query-mask/confidence package used for reconstruction; it does not imply a learned routing module. Presence modifies admission in native mode and amplitude in both modes. Anchor-admission affects membership only. Instance maps are rebuilt before the bounded Instance update. The same p̃ is used in final scaling. Outer clip is to [0,1]. Gv,π is observation-level output; spatial restoration and averaging occur subsequently as shown on slide 1. Selecting evidence happens after complete grounding; this is not three independently trained heads. All non-image elements are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132588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43344"/>
                </a:solidFill>
                <a:latin typeface="DejaVu Sans"/>
              </a:defRPr>
            </a:pPr>
            <a:r>
              <a:t>Joint Role–View Specialization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325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7586"/>
                </a:solidFill>
                <a:latin typeface="DejaVu Sans"/>
              </a:defRPr>
            </a:pPr>
            <a:r>
              <a:t>Frozen concept grounding · role-specific evidence use · aligned score-field fusion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106424"/>
            <a:ext cx="13898880" cy="0"/>
          </a:xfrm>
          <a:prstGeom prst="line">
            <a:avLst/>
          </a:prstGeom>
          <a:ln w="7620">
            <a:solidFill>
              <a:srgbClr val="BA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298448"/>
            <a:ext cx="9144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3344"/>
                </a:solidFill>
                <a:latin typeface="DejaVu Sans"/>
              </a:defRPr>
            </a:pPr>
            <a:r>
              <a:t>(a)  Role-functional 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373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10160">
            <a:solidFill>
              <a:srgbClr val="F3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36576" cy="914400"/>
          </a:xfrm>
          <a:prstGeom prst="rect">
            <a:avLst/>
          </a:prstGeom>
          <a:solidFill>
            <a:srgbClr val="243344"/>
          </a:solidFill>
          <a:ln w="10160">
            <a:solidFill>
              <a:srgbClr val="24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856231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43344"/>
                </a:solidFill>
                <a:latin typeface="DejaVu Sans"/>
              </a:defRPr>
            </a:pPr>
            <a:r>
              <a:t>Official anchor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267712"/>
            <a:ext cx="2514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43344"/>
                </a:solidFill>
                <a:latin typeface="DejaVu Sans"/>
              </a:defRPr>
            </a:pPr>
            <a:r>
              <a:t>“road” + official aliases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73736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4EFF9"/>
          </a:solidFill>
          <a:ln w="10160">
            <a:solidFill>
              <a:srgbClr val="F4E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737360"/>
            <a:ext cx="36576" cy="914400"/>
          </a:xfrm>
          <a:prstGeom prst="rect">
            <a:avLst/>
          </a:prstGeom>
          <a:solidFill>
            <a:srgbClr val="7955A5"/>
          </a:solidFill>
          <a:ln w="10160">
            <a:solidFill>
              <a:srgbClr val="795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1856231"/>
            <a:ext cx="3200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955A5"/>
                </a:solidFill>
                <a:latin typeface="DejaVu Sans"/>
              </a:defRPr>
            </a:pPr>
            <a:r>
              <a:t>Presence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267712"/>
            <a:ext cx="3200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43344"/>
                </a:solidFill>
                <a:latin typeface="DejaVu Sans"/>
              </a:defRPr>
            </a:pPr>
            <a:r>
              <a:t>“Road network”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73736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EDF7F5"/>
          </a:solidFill>
          <a:ln w="10160">
            <a:solidFill>
              <a:srgbClr val="ED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86600" y="1737360"/>
            <a:ext cx="36576" cy="914400"/>
          </a:xfrm>
          <a:prstGeom prst="rect">
            <a:avLst/>
          </a:prstGeom>
          <a:solidFill>
            <a:srgbClr val="21877D"/>
          </a:solidFill>
          <a:ln w="10160">
            <a:solidFill>
              <a:srgbClr val="21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1856231"/>
            <a:ext cx="3200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1877D"/>
                </a:solidFill>
                <a:latin typeface="DejaVu Sans"/>
              </a:defRPr>
            </a:pPr>
            <a:r>
              <a:t>Semantic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2267712"/>
            <a:ext cx="3200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43344"/>
                </a:solidFill>
                <a:latin typeface="DejaVu Sans"/>
              </a:defRPr>
            </a:pPr>
            <a:r>
              <a:t>“continuous paved road surface”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89920" y="173736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BF3EA"/>
          </a:solidFill>
          <a:ln w="10160">
            <a:solidFill>
              <a:srgbClr val="FB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89920" y="1737360"/>
            <a:ext cx="36576" cy="914400"/>
          </a:xfrm>
          <a:prstGeom prst="rect">
            <a:avLst/>
          </a:prstGeom>
          <a:solidFill>
            <a:srgbClr val="BF7837"/>
          </a:solidFill>
          <a:ln w="10160">
            <a:solidFill>
              <a:srgbClr val="BF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36224" y="1856231"/>
            <a:ext cx="3246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F7837"/>
                </a:solidFill>
                <a:latin typeface="DejaVu Sans"/>
              </a:defRPr>
            </a:pPr>
            <a:r>
              <a:t>Instance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36224" y="2267712"/>
            <a:ext cx="3246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43344"/>
                </a:solidFill>
                <a:latin typeface="DejaVu Sans"/>
              </a:defRPr>
            </a:pPr>
            <a:r>
              <a:t>“connected road region”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807208"/>
            <a:ext cx="13898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67586"/>
                </a:solidFill>
                <a:latin typeface="DejaVu Sans"/>
              </a:defRPr>
            </a:pPr>
            <a:r>
              <a:t>Fixed dataset profile π: selected role slots and view operator; shared by both observations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364992"/>
            <a:ext cx="9144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3344"/>
                </a:solidFill>
                <a:latin typeface="DejaVu Sans"/>
              </a:defRPr>
            </a:pPr>
            <a:r>
              <a:t>(b)  Observations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364992"/>
            <a:ext cx="9144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3344"/>
                </a:solidFill>
                <a:latin typeface="DejaVu Sans"/>
              </a:defRPr>
            </a:pPr>
            <a:r>
              <a:t>(c)  Grounding and composition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3364992"/>
            <a:ext cx="9144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3344"/>
                </a:solidFill>
                <a:latin typeface="DejaVu Sans"/>
              </a:defRPr>
            </a:pPr>
            <a:r>
              <a:t>(d)  View fusion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108960" y="3200400"/>
            <a:ext cx="274320" cy="0"/>
          </a:xfrm>
          <a:prstGeom prst="line">
            <a:avLst/>
          </a:prstGeom>
          <a:ln w="13970">
            <a:solidFill>
              <a:srgbClr val="66758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383280" y="3200400"/>
            <a:ext cx="0" cy="2743200"/>
          </a:xfrm>
          <a:prstGeom prst="line">
            <a:avLst/>
          </a:prstGeom>
          <a:ln w="13970">
            <a:solidFill>
              <a:srgbClr val="66758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069080"/>
            <a:ext cx="1329528" cy="10515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6072" y="5212080"/>
            <a:ext cx="26517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26FA1"/>
                </a:solidFill>
                <a:latin typeface="DejaVu Sans"/>
              </a:defRPr>
            </a:pPr>
            <a:r>
              <a:t>Local observation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743200" y="4599432"/>
            <a:ext cx="795528" cy="0"/>
          </a:xfrm>
          <a:prstGeom prst="line">
            <a:avLst/>
          </a:prstGeom>
          <a:ln w="13970">
            <a:solidFill>
              <a:srgbClr val="2433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657600" y="4069080"/>
            <a:ext cx="2194560" cy="106070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BA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67328" y="4206240"/>
            <a:ext cx="197510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43344"/>
                </a:solidFill>
                <a:latin typeface="DejaVu Sans"/>
              </a:defRPr>
            </a:pPr>
            <a:r>
              <a:t>Frozen SAM3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4553712"/>
            <a:ext cx="2011680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7586"/>
                </a:solidFill>
                <a:latin typeface="DejaVu Sans"/>
              </a:defRPr>
            </a:pPr>
            <a:r>
              <a:t>Each required prompt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7586"/>
                </a:solidFill>
                <a:latin typeface="DejaVu Sans"/>
              </a:defRPr>
            </a:pPr>
            <a:r>
              <a:t>→ full P / S / I outputs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852160" y="4599432"/>
            <a:ext cx="338328" cy="0"/>
          </a:xfrm>
          <a:prstGeom prst="line">
            <a:avLst/>
          </a:prstGeom>
          <a:ln w="13970">
            <a:solidFill>
              <a:srgbClr val="2433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309360" y="4069080"/>
            <a:ext cx="2103120" cy="106070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BA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206240"/>
            <a:ext cx="188366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43344"/>
                </a:solidFill>
                <a:latin typeface="DejaVu Sans"/>
              </a:defRPr>
            </a:pPr>
            <a:r>
              <a:t>Role updates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553712"/>
            <a:ext cx="1920240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7586"/>
                </a:solidFill>
                <a:latin typeface="DejaVu Sans"/>
              </a:defRPr>
            </a:pPr>
            <a:r>
              <a:t>Bounded updates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7586"/>
                </a:solidFill>
                <a:latin typeface="DejaVu Sans"/>
              </a:defRPr>
            </a:pPr>
            <a:r>
              <a:t>+ native p × max(S, I)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9168" y="4992624"/>
            <a:ext cx="128016" cy="64008"/>
          </a:xfrm>
          <a:prstGeom prst="rect">
            <a:avLst/>
          </a:prstGeom>
          <a:solidFill>
            <a:srgbClr val="7955A5"/>
          </a:solidFill>
          <a:ln w="10160">
            <a:solidFill>
              <a:srgbClr val="795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251192" y="4992624"/>
            <a:ext cx="128016" cy="64008"/>
          </a:xfrm>
          <a:prstGeom prst="rect">
            <a:avLst/>
          </a:prstGeom>
          <a:solidFill>
            <a:srgbClr val="21877D"/>
          </a:solidFill>
          <a:ln w="10160">
            <a:solidFill>
              <a:srgbClr val="21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43216" y="4992624"/>
            <a:ext cx="128016" cy="64008"/>
          </a:xfrm>
          <a:prstGeom prst="rect">
            <a:avLst/>
          </a:prstGeom>
          <a:solidFill>
            <a:srgbClr val="BF7837"/>
          </a:solidFill>
          <a:ln w="10160">
            <a:solidFill>
              <a:srgbClr val="BF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8412480" y="4599432"/>
            <a:ext cx="338328" cy="0"/>
          </a:xfrm>
          <a:prstGeom prst="line">
            <a:avLst/>
          </a:prstGeom>
          <a:ln w="13970">
            <a:solidFill>
              <a:srgbClr val="2433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869680" y="4069080"/>
            <a:ext cx="1371600" cy="106070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BA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79408" y="4206240"/>
            <a:ext cx="115214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43344"/>
                </a:solidFill>
                <a:latin typeface="DejaVu Sans"/>
              </a:defRPr>
            </a:pPr>
            <a:r>
              <a:t>Restore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4553712"/>
            <a:ext cx="1188720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7586"/>
                </a:solidFill>
                <a:latin typeface="DejaVu Sans"/>
              </a:defRPr>
            </a:pPr>
            <a:r>
              <a:t>Official map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7586"/>
                </a:solidFill>
                <a:latin typeface="DejaVu Sans"/>
              </a:defRPr>
            </a:pPr>
            <a:r>
              <a:t>+ coordinates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383280" y="4178808"/>
            <a:ext cx="274320" cy="0"/>
          </a:xfrm>
          <a:prstGeom prst="line">
            <a:avLst/>
          </a:prstGeom>
          <a:ln w="13970">
            <a:solidFill>
              <a:srgbClr val="66758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241280" y="4599432"/>
            <a:ext cx="365760" cy="0"/>
          </a:xfrm>
          <a:prstGeom prst="line">
            <a:avLst/>
          </a:prstGeom>
          <a:ln w="13970">
            <a:solidFill>
              <a:srgbClr val="2433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0881360" y="4233672"/>
            <a:ext cx="585216" cy="530352"/>
          </a:xfrm>
          <a:prstGeom prst="rect">
            <a:avLst/>
          </a:prstGeom>
          <a:solidFill>
            <a:srgbClr val="EAF0F7"/>
          </a:solidFill>
          <a:ln w="10160">
            <a:solidFill>
              <a:srgbClr val="426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817352" y="4297680"/>
            <a:ext cx="585216" cy="530352"/>
          </a:xfrm>
          <a:prstGeom prst="rect">
            <a:avLst/>
          </a:prstGeom>
          <a:solidFill>
            <a:srgbClr val="EAF0F7"/>
          </a:solidFill>
          <a:ln w="10160">
            <a:solidFill>
              <a:srgbClr val="426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753344" y="4361688"/>
            <a:ext cx="585216" cy="530352"/>
          </a:xfrm>
          <a:prstGeom prst="rect">
            <a:avLst/>
          </a:prstGeom>
          <a:solidFill>
            <a:srgbClr val="EAF0F7"/>
          </a:solidFill>
          <a:ln w="10160">
            <a:solidFill>
              <a:srgbClr val="426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43616" y="4992624"/>
            <a:ext cx="10058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26FA1"/>
                </a:solidFill>
                <a:latin typeface="DejaVu Sans"/>
              </a:defRPr>
            </a:pPr>
            <a:r>
              <a:t>ḠL</a:t>
            </a:r>
          </a:p>
        </p:txBody>
      </p:sp>
      <p:pic>
        <p:nvPicPr>
          <p:cNvPr id="51" name="Picture 50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852160"/>
            <a:ext cx="1869991" cy="105156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76072" y="6995160"/>
            <a:ext cx="26517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26FA1"/>
                </a:solidFill>
                <a:latin typeface="DejaVu Sans"/>
              </a:defRPr>
            </a:pPr>
            <a:r>
              <a:t>Context observation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743200" y="6382512"/>
            <a:ext cx="795528" cy="0"/>
          </a:xfrm>
          <a:prstGeom prst="line">
            <a:avLst/>
          </a:prstGeom>
          <a:ln w="13970">
            <a:solidFill>
              <a:srgbClr val="2433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657600" y="5852160"/>
            <a:ext cx="2194560" cy="106070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BA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67328" y="5989320"/>
            <a:ext cx="197510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43344"/>
                </a:solidFill>
                <a:latin typeface="DejaVu Sans"/>
              </a:defRPr>
            </a:pPr>
            <a:r>
              <a:t>Frozen SAM3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49039" y="6336792"/>
            <a:ext cx="2011680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7586"/>
                </a:solidFill>
                <a:latin typeface="DejaVu Sans"/>
              </a:defRPr>
            </a:pPr>
            <a:r>
              <a:t>Each required prompt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7586"/>
                </a:solidFill>
                <a:latin typeface="DejaVu Sans"/>
              </a:defRPr>
            </a:pPr>
            <a:r>
              <a:t>→ full P / S / I outputs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852160" y="6382512"/>
            <a:ext cx="338328" cy="0"/>
          </a:xfrm>
          <a:prstGeom prst="line">
            <a:avLst/>
          </a:prstGeom>
          <a:ln w="13970">
            <a:solidFill>
              <a:srgbClr val="2433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6309360" y="5852160"/>
            <a:ext cx="2103120" cy="106070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BA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19088" y="5989320"/>
            <a:ext cx="188366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43344"/>
                </a:solidFill>
                <a:latin typeface="DejaVu Sans"/>
              </a:defRPr>
            </a:pPr>
            <a:r>
              <a:t>Role updates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6336792"/>
            <a:ext cx="1920240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7586"/>
                </a:solidFill>
                <a:latin typeface="DejaVu Sans"/>
              </a:defRPr>
            </a:pPr>
            <a:r>
              <a:t>Bounded updates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7586"/>
                </a:solidFill>
                <a:latin typeface="DejaVu Sans"/>
              </a:defRPr>
            </a:pPr>
            <a:r>
              <a:t>+ native p × max(S, I)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59168" y="6775704"/>
            <a:ext cx="128016" cy="64008"/>
          </a:xfrm>
          <a:prstGeom prst="rect">
            <a:avLst/>
          </a:prstGeom>
          <a:solidFill>
            <a:srgbClr val="7955A5"/>
          </a:solidFill>
          <a:ln w="10160">
            <a:solidFill>
              <a:srgbClr val="795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251192" y="6775704"/>
            <a:ext cx="128016" cy="64008"/>
          </a:xfrm>
          <a:prstGeom prst="rect">
            <a:avLst/>
          </a:prstGeom>
          <a:solidFill>
            <a:srgbClr val="21877D"/>
          </a:solidFill>
          <a:ln w="10160">
            <a:solidFill>
              <a:srgbClr val="21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43216" y="6775704"/>
            <a:ext cx="128016" cy="64008"/>
          </a:xfrm>
          <a:prstGeom prst="rect">
            <a:avLst/>
          </a:prstGeom>
          <a:solidFill>
            <a:srgbClr val="BF7837"/>
          </a:solidFill>
          <a:ln w="10160">
            <a:solidFill>
              <a:srgbClr val="BF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8412480" y="6382512"/>
            <a:ext cx="338328" cy="0"/>
          </a:xfrm>
          <a:prstGeom prst="line">
            <a:avLst/>
          </a:prstGeom>
          <a:ln w="13970">
            <a:solidFill>
              <a:srgbClr val="2433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8869680" y="5852160"/>
            <a:ext cx="1371600" cy="106070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BA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79408" y="5989320"/>
            <a:ext cx="115214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43344"/>
                </a:solidFill>
                <a:latin typeface="DejaVu Sans"/>
              </a:defRPr>
            </a:pPr>
            <a:r>
              <a:t>Restore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61120" y="6336792"/>
            <a:ext cx="1188720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7586"/>
                </a:solidFill>
                <a:latin typeface="DejaVu Sans"/>
              </a:defRPr>
            </a:pPr>
            <a:r>
              <a:t>Official map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7586"/>
                </a:solidFill>
                <a:latin typeface="DejaVu Sans"/>
              </a:defRPr>
            </a:pPr>
            <a:r>
              <a:t>+ coordinates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383280" y="5961888"/>
            <a:ext cx="274320" cy="0"/>
          </a:xfrm>
          <a:prstGeom prst="line">
            <a:avLst/>
          </a:prstGeom>
          <a:ln w="13970">
            <a:solidFill>
              <a:srgbClr val="66758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241280" y="6382512"/>
            <a:ext cx="365760" cy="0"/>
          </a:xfrm>
          <a:prstGeom prst="line">
            <a:avLst/>
          </a:prstGeom>
          <a:ln w="13970">
            <a:solidFill>
              <a:srgbClr val="2433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10881360" y="6016752"/>
            <a:ext cx="585216" cy="530352"/>
          </a:xfrm>
          <a:prstGeom prst="rect">
            <a:avLst/>
          </a:prstGeom>
          <a:solidFill>
            <a:srgbClr val="EAF0F7"/>
          </a:solidFill>
          <a:ln w="10160">
            <a:solidFill>
              <a:srgbClr val="426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817352" y="6080760"/>
            <a:ext cx="585216" cy="530352"/>
          </a:xfrm>
          <a:prstGeom prst="rect">
            <a:avLst/>
          </a:prstGeom>
          <a:solidFill>
            <a:srgbClr val="EAF0F7"/>
          </a:solidFill>
          <a:ln w="10160">
            <a:solidFill>
              <a:srgbClr val="426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753344" y="6144768"/>
            <a:ext cx="585216" cy="530352"/>
          </a:xfrm>
          <a:prstGeom prst="rect">
            <a:avLst/>
          </a:prstGeom>
          <a:solidFill>
            <a:srgbClr val="EAF0F7"/>
          </a:solidFill>
          <a:ln w="10160">
            <a:solidFill>
              <a:srgbClr val="426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643616" y="6775704"/>
            <a:ext cx="10058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26FA1"/>
                </a:solidFill>
                <a:latin typeface="DejaVu Sans"/>
              </a:defRPr>
            </a:pPr>
            <a:r>
              <a:t>ḠG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1475720" y="4599432"/>
            <a:ext cx="457200" cy="0"/>
          </a:xfrm>
          <a:prstGeom prst="line">
            <a:avLst/>
          </a:prstGeom>
          <a:ln w="13970">
            <a:solidFill>
              <a:srgbClr val="2433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1932920" y="4599432"/>
            <a:ext cx="0" cy="740664"/>
          </a:xfrm>
          <a:prstGeom prst="line">
            <a:avLst/>
          </a:prstGeom>
          <a:ln w="13970">
            <a:solidFill>
              <a:srgbClr val="24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1475720" y="6382512"/>
            <a:ext cx="457200" cy="0"/>
          </a:xfrm>
          <a:prstGeom prst="line">
            <a:avLst/>
          </a:prstGeom>
          <a:ln w="13970">
            <a:solidFill>
              <a:srgbClr val="2433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1932920" y="5669280"/>
            <a:ext cx="0" cy="713232"/>
          </a:xfrm>
          <a:prstGeom prst="line">
            <a:avLst/>
          </a:prstGeom>
          <a:ln w="13970">
            <a:solidFill>
              <a:srgbClr val="24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11686032" y="5340096"/>
            <a:ext cx="493776" cy="329184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 w="10160">
            <a:solidFill>
              <a:srgbClr val="426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713464" y="5349240"/>
            <a:ext cx="438912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26FA1"/>
                </a:solidFill>
                <a:latin typeface="DejaVu Sans"/>
              </a:defRPr>
            </a:pPr>
            <a:r>
              <a:t>Ψω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2179808" y="5504688"/>
            <a:ext cx="256032" cy="0"/>
          </a:xfrm>
          <a:prstGeom prst="line">
            <a:avLst/>
          </a:prstGeom>
          <a:ln w="13970">
            <a:solidFill>
              <a:srgbClr val="2433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12545568" y="5010912"/>
            <a:ext cx="1719072" cy="10241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BA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2655296" y="5148072"/>
            <a:ext cx="1499616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43344"/>
                </a:solidFill>
                <a:latin typeface="DejaVu Sans"/>
              </a:defRPr>
            </a:pPr>
            <a:r>
              <a:t>Decision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637008" y="5495544"/>
            <a:ext cx="1536192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7586"/>
                </a:solidFill>
                <a:latin typeface="DejaVu Sans"/>
              </a:defRPr>
            </a:pPr>
            <a:r>
              <a:t>Argmax +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7586"/>
                </a:solidFill>
                <a:latin typeface="DejaVu Sans"/>
              </a:defRPr>
            </a:pPr>
            <a:r>
              <a:t>background rule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390120" y="6227064"/>
            <a:ext cx="20116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344"/>
                </a:solidFill>
                <a:latin typeface="DejaVu Sans"/>
              </a:defRPr>
            </a:pPr>
            <a:r>
              <a:t>Segmentation Ŷ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3395960" y="6035040"/>
            <a:ext cx="0" cy="137160"/>
          </a:xfrm>
          <a:prstGeom prst="line">
            <a:avLst/>
          </a:prstGeom>
          <a:ln w="13970">
            <a:solidFill>
              <a:srgbClr val="2433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365760" y="7360920"/>
            <a:ext cx="138531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7586"/>
                </a:solidFill>
                <a:latin typeface="DejaVu Sans"/>
              </a:defRPr>
            </a:pPr>
            <a:r>
              <a:t>Same weights and role profile in both rows   •   Fusion uses complete class-score fields before argmax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1371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43344"/>
                </a:solidFill>
                <a:latin typeface="DejaVu Sans"/>
              </a:defRPr>
            </a:pPr>
            <a:r>
              <a:t>Anchor-preserving role 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31520"/>
            <a:ext cx="136245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7586"/>
                </a:solidFill>
                <a:latin typeface="DejaVu Sans"/>
              </a:defRPr>
            </a:pPr>
            <a:r>
              <a:t>Apply this same computation to Local and Context; the SAM3 weights remain frozen.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115568"/>
            <a:ext cx="13898880" cy="0"/>
          </a:xfrm>
          <a:prstGeom prst="line">
            <a:avLst/>
          </a:prstGeom>
          <a:ln w="7620">
            <a:solidFill>
              <a:srgbClr val="BAC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344168"/>
            <a:ext cx="9144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3344"/>
                </a:solidFill>
                <a:latin typeface="DejaVu Sans"/>
              </a:defRPr>
            </a:pPr>
            <a:r>
              <a:t>(a)  Complete grounding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344168"/>
            <a:ext cx="9144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3344"/>
                </a:solidFill>
                <a:latin typeface="DejaVu Sans"/>
              </a:defRPr>
            </a:pPr>
            <a:r>
              <a:t>(b)  Selective evidence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344168"/>
            <a:ext cx="9144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43344"/>
                </a:solidFill>
                <a:latin typeface="DejaVu Sans"/>
              </a:defRPr>
            </a:pPr>
            <a:r>
              <a:t>(c)  Native composition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920240"/>
            <a:ext cx="4206240" cy="426110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93976"/>
            <a:ext cx="3657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43344"/>
                </a:solidFill>
                <a:latin typeface="DejaVu Sans"/>
              </a:defRPr>
            </a:pPr>
            <a:r>
              <a:t>Full frozen SAM3 per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96312"/>
            <a:ext cx="3657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7586"/>
                </a:solidFill>
                <a:latin typeface="DejaVu Sans"/>
              </a:defRPr>
            </a:pPr>
            <a:r>
              <a:t>Shared weights; separate grounding 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962656"/>
            <a:ext cx="1371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344"/>
                </a:solidFill>
                <a:latin typeface="DejaVu Sans"/>
              </a:defRPr>
            </a:pPr>
            <a:r>
              <a:t>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962656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344"/>
                </a:solidFill>
                <a:latin typeface="DejaVu Sans"/>
              </a:defRPr>
            </a:pPr>
            <a: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962656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344"/>
                </a:solidFill>
                <a:latin typeface="DejaVu Sans"/>
              </a:defRPr>
            </a:pPr>
            <a: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2962656"/>
            <a:ext cx="9601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344"/>
                </a:solidFill>
                <a:latin typeface="DejaVu Sans"/>
              </a:defRPr>
            </a:pPr>
            <a:r>
              <a:t>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3465576"/>
            <a:ext cx="16459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43344"/>
                </a:solidFill>
                <a:latin typeface="DejaVu Sans"/>
              </a:defRPr>
            </a:pPr>
            <a:r>
              <a:t>Anchor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9424" y="3419856"/>
            <a:ext cx="530352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4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3465576"/>
            <a:ext cx="457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43344"/>
                </a:solidFill>
                <a:latin typeface="DejaVu Sans"/>
              </a:defRPr>
            </a:pPr>
            <a:r>
              <a:t>pᴬ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35224" y="3419856"/>
            <a:ext cx="530352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4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800" y="3465576"/>
            <a:ext cx="457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43344"/>
                </a:solidFill>
                <a:latin typeface="DejaVu Sans"/>
              </a:defRPr>
            </a:pPr>
            <a:r>
              <a:t>Sᴬ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85032" y="3419856"/>
            <a:ext cx="530352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4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21608" y="3465576"/>
            <a:ext cx="457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43344"/>
                </a:solidFill>
                <a:latin typeface="DejaVu Sans"/>
              </a:defRPr>
            </a:pPr>
            <a:r>
              <a:t>Qᴬ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4096512"/>
            <a:ext cx="16459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955A5"/>
                </a:solidFill>
                <a:latin typeface="DejaVu Sans"/>
              </a:defRPr>
            </a:pPr>
            <a:r>
              <a:t>Presence πP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49424" y="4050791"/>
            <a:ext cx="530352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795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4096512"/>
            <a:ext cx="457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955A5"/>
                </a:solidFill>
                <a:latin typeface="DejaVu Sans"/>
              </a:defRPr>
            </a:pPr>
            <a:r>
              <a:t>pᴾ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096512"/>
            <a:ext cx="457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7AFB8"/>
                </a:solidFill>
                <a:latin typeface="DejaVu Sans"/>
              </a:defRPr>
            </a:pPr>
            <a:r>
              <a:t>Sᴾ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1608" y="4096512"/>
            <a:ext cx="457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7AFB8"/>
                </a:solidFill>
                <a:latin typeface="DejaVu Sans"/>
              </a:defRPr>
            </a:pPr>
            <a:r>
              <a:t>Qᴾ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4727448"/>
            <a:ext cx="16459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1877D"/>
                </a:solidFill>
                <a:latin typeface="DejaVu Sans"/>
              </a:defRPr>
            </a:pPr>
            <a:r>
              <a:t>Semantic πS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727448"/>
            <a:ext cx="457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7AFB8"/>
                </a:solidFill>
                <a:latin typeface="DejaVu Sans"/>
              </a:defRPr>
            </a:pPr>
            <a:r>
              <a:t>pˢ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35224" y="4681728"/>
            <a:ext cx="530352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18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71800" y="4727448"/>
            <a:ext cx="457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1877D"/>
                </a:solidFill>
                <a:latin typeface="DejaVu Sans"/>
              </a:defRPr>
            </a:pPr>
            <a:r>
              <a:t>Sˢ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21608" y="4727448"/>
            <a:ext cx="457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7AFB8"/>
                </a:solidFill>
                <a:latin typeface="DejaVu Sans"/>
              </a:defRPr>
            </a:pPr>
            <a:r>
              <a:t>Qˢ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" y="5358384"/>
            <a:ext cx="16459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F7837"/>
                </a:solidFill>
                <a:latin typeface="DejaVu Sans"/>
              </a:defRPr>
            </a:pPr>
            <a:r>
              <a:t>Instance πI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5358384"/>
            <a:ext cx="457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7AFB8"/>
                </a:solidFill>
                <a:latin typeface="DejaVu Sans"/>
              </a:defRPr>
            </a:pPr>
            <a:r>
              <a:t>pᴵ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358384"/>
            <a:ext cx="457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7AFB8"/>
                </a:solidFill>
                <a:latin typeface="DejaVu Sans"/>
              </a:defRPr>
            </a:pPr>
            <a:r>
              <a:t>Sᴵ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85032" y="5312664"/>
            <a:ext cx="530352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BF7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21608" y="5358384"/>
            <a:ext cx="4572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F7837"/>
                </a:solidFill>
                <a:latin typeface="DejaVu Sans"/>
              </a:defRPr>
            </a:pPr>
            <a:r>
              <a:t>Qᴵ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861304"/>
            <a:ext cx="3840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7586"/>
                </a:solidFill>
                <a:latin typeface="DejaVu Sans"/>
              </a:defRPr>
            </a:pPr>
            <a:r>
              <a:t>Colored cells indicate evidence used downstream.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0640" y="2011680"/>
            <a:ext cx="5029200" cy="886968"/>
          </a:xfrm>
          <a:prstGeom prst="roundRect">
            <a:avLst>
              <a:gd name="adj" fmla="val 8000"/>
            </a:avLst>
          </a:prstGeom>
          <a:solidFill>
            <a:srgbClr val="F4EFF9"/>
          </a:solidFill>
          <a:ln w="10160">
            <a:solidFill>
              <a:srgbClr val="BA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30368" y="2148840"/>
            <a:ext cx="480974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955A5"/>
                </a:solidFill>
                <a:latin typeface="DejaVu Sans"/>
              </a:defRPr>
            </a:pPr>
            <a:r>
              <a:t>Presence update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2496312"/>
            <a:ext cx="484632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7586"/>
                </a:solidFill>
                <a:latin typeface="DejaVu Sans"/>
              </a:defRPr>
            </a:pPr>
            <a:r>
              <a:t>p̃ = B(pᴬ, pᴾ)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20640" y="3246120"/>
            <a:ext cx="5029200" cy="886968"/>
          </a:xfrm>
          <a:prstGeom prst="roundRect">
            <a:avLst>
              <a:gd name="adj" fmla="val 8000"/>
            </a:avLst>
          </a:prstGeom>
          <a:solidFill>
            <a:srgbClr val="EDF7F5"/>
          </a:solidFill>
          <a:ln w="10160">
            <a:solidFill>
              <a:srgbClr val="BA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30368" y="3383280"/>
            <a:ext cx="480974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1877D"/>
                </a:solidFill>
                <a:latin typeface="DejaVu Sans"/>
              </a:defRPr>
            </a:pPr>
            <a:r>
              <a:t>Semantic update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3730752"/>
            <a:ext cx="484632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7586"/>
                </a:solidFill>
                <a:latin typeface="DejaVu Sans"/>
              </a:defRPr>
            </a:pPr>
            <a:r>
              <a:t>S̃ = B(Sᴬ, Sˢ)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20640" y="4617720"/>
            <a:ext cx="5029200" cy="1207008"/>
          </a:xfrm>
          <a:prstGeom prst="roundRect">
            <a:avLst>
              <a:gd name="adj" fmla="val 8000"/>
            </a:avLst>
          </a:prstGeom>
          <a:solidFill>
            <a:srgbClr val="FBF3EA"/>
          </a:solidFill>
          <a:ln w="10160">
            <a:solidFill>
              <a:srgbClr val="BA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30368" y="4754880"/>
            <a:ext cx="480974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F7837"/>
                </a:solidFill>
                <a:latin typeface="DejaVu Sans"/>
              </a:defRPr>
            </a:pPr>
            <a:r>
              <a:t>Instance reconstruction + update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5102352"/>
            <a:ext cx="4846320" cy="704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7586"/>
                </a:solidFill>
                <a:latin typeface="DejaVu Sans"/>
              </a:defRPr>
            </a:pPr>
            <a:r>
              <a:t>Rebuild anchor / candidate maps using p̃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7586"/>
                </a:solidFill>
                <a:latin typeface="DejaVu Sans"/>
              </a:defRPr>
            </a:pPr>
            <a:r>
              <a:t>Ĩ = B(Iᴬ(p̃, a), Iᴵ(p̃, a))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572000" y="2468880"/>
            <a:ext cx="457200" cy="0"/>
          </a:xfrm>
          <a:prstGeom prst="line">
            <a:avLst/>
          </a:prstGeom>
          <a:ln w="13970">
            <a:solidFill>
              <a:srgbClr val="7955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72000" y="3694176"/>
            <a:ext cx="457200" cy="0"/>
          </a:xfrm>
          <a:prstGeom prst="line">
            <a:avLst/>
          </a:prstGeom>
          <a:ln w="13970">
            <a:solidFill>
              <a:srgbClr val="2187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72000" y="5230368"/>
            <a:ext cx="457200" cy="0"/>
          </a:xfrm>
          <a:prstGeom prst="line">
            <a:avLst/>
          </a:prstGeom>
          <a:ln w="13970">
            <a:solidFill>
              <a:srgbClr val="BF78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349240" y="2898648"/>
            <a:ext cx="0" cy="182880"/>
          </a:xfrm>
          <a:prstGeom prst="line">
            <a:avLst/>
          </a:prstGeom>
          <a:ln w="13970">
            <a:solidFill>
              <a:srgbClr val="795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4892040" y="3081528"/>
            <a:ext cx="457200" cy="0"/>
          </a:xfrm>
          <a:prstGeom prst="line">
            <a:avLst/>
          </a:prstGeom>
          <a:ln w="13970">
            <a:solidFill>
              <a:srgbClr val="795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92040" y="3081528"/>
            <a:ext cx="0" cy="1353312"/>
          </a:xfrm>
          <a:prstGeom prst="line">
            <a:avLst/>
          </a:prstGeom>
          <a:ln w="13970">
            <a:solidFill>
              <a:srgbClr val="795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892040" y="4434840"/>
            <a:ext cx="1325880" cy="0"/>
          </a:xfrm>
          <a:prstGeom prst="line">
            <a:avLst/>
          </a:prstGeom>
          <a:ln w="13970">
            <a:solidFill>
              <a:srgbClr val="795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217920" y="4434840"/>
            <a:ext cx="0" cy="182880"/>
          </a:xfrm>
          <a:prstGeom prst="line">
            <a:avLst/>
          </a:prstGeom>
          <a:ln w="13970">
            <a:solidFill>
              <a:srgbClr val="7955A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437376" y="4288536"/>
            <a:ext cx="36576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955A5"/>
                </a:solidFill>
                <a:latin typeface="DejaVu Sans"/>
              </a:defRPr>
            </a:pPr>
            <a:r>
              <a:t>Presence controls instance construction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149840" y="2468880"/>
            <a:ext cx="457200" cy="0"/>
          </a:xfrm>
          <a:prstGeom prst="line">
            <a:avLst/>
          </a:prstGeom>
          <a:ln w="13970">
            <a:solidFill>
              <a:srgbClr val="24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149840" y="3694176"/>
            <a:ext cx="457200" cy="0"/>
          </a:xfrm>
          <a:prstGeom prst="line">
            <a:avLst/>
          </a:prstGeom>
          <a:ln w="13970">
            <a:solidFill>
              <a:srgbClr val="24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149840" y="5230368"/>
            <a:ext cx="457200" cy="0"/>
          </a:xfrm>
          <a:prstGeom prst="line">
            <a:avLst/>
          </a:prstGeom>
          <a:ln w="13970">
            <a:solidFill>
              <a:srgbClr val="24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607040" y="2468880"/>
            <a:ext cx="0" cy="2761488"/>
          </a:xfrm>
          <a:prstGeom prst="line">
            <a:avLst/>
          </a:prstGeom>
          <a:ln w="13970">
            <a:solidFill>
              <a:srgbClr val="24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607040" y="3694176"/>
            <a:ext cx="365760" cy="0"/>
          </a:xfrm>
          <a:prstGeom prst="line">
            <a:avLst/>
          </a:prstGeom>
          <a:ln w="13970">
            <a:solidFill>
              <a:srgbClr val="2433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11064240" y="3063240"/>
            <a:ext cx="320040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BA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173968" y="3200400"/>
            <a:ext cx="298094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43344"/>
                </a:solidFill>
                <a:latin typeface="DejaVu Sans"/>
              </a:defRPr>
            </a:pPr>
            <a:r>
              <a:t>Native fusion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55680" y="3547872"/>
            <a:ext cx="301752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7586"/>
                </a:solidFill>
                <a:latin typeface="DejaVu Sans"/>
              </a:defRPr>
            </a:pPr>
            <a:r>
              <a:t>Fπ = p̃ × max(S̃, Ĩ)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2664440" y="4251960"/>
            <a:ext cx="0" cy="374904"/>
          </a:xfrm>
          <a:prstGeom prst="line">
            <a:avLst/>
          </a:prstGeom>
          <a:ln w="13970">
            <a:solidFill>
              <a:srgbClr val="2433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11064240" y="4736592"/>
            <a:ext cx="3200400" cy="11155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BAC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173968" y="4873752"/>
            <a:ext cx="298094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43344"/>
                </a:solidFill>
                <a:latin typeface="DejaVu Sans"/>
              </a:defRPr>
            </a:pPr>
            <a:r>
              <a:t>Official-map correction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55680" y="5221224"/>
            <a:ext cx="301752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67586"/>
                </a:solidFill>
                <a:latin typeface="DejaVu Sans"/>
              </a:defRPr>
            </a:pPr>
            <a:r>
              <a:t>Gv,π = clip(Gᵒv + Fv,π − Fᴬv)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64240" y="6035040"/>
            <a:ext cx="3200400" cy="5852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7586"/>
                </a:solidFill>
                <a:latin typeface="DejaVu Sans"/>
              </a:defRPr>
            </a:pPr>
            <a:r>
              <a:t>Preserves official aliases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7586"/>
                </a:solidFill>
                <a:latin typeface="DejaVu Sans"/>
              </a:defRPr>
            </a:pPr>
            <a:r>
              <a:t>and baseline aggregation order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65760" y="6583680"/>
            <a:ext cx="13898880" cy="80467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016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6928" y="6702552"/>
            <a:ext cx="1325880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43344"/>
                </a:solidFill>
                <a:latin typeface="DejaVu Sans"/>
              </a:defRPr>
            </a:pPr>
            <a:r>
              <a:t>B(a, b) = clip[0,1] [a + α · clip(b − a, −τ, τ)]       α = 0.5,  τ = 0.25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6928" y="7104888"/>
            <a:ext cx="1325880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7586"/>
                </a:solidFill>
                <a:latin typeface="DejaVu Sans"/>
              </a:defRPr>
            </a:pPr>
            <a:r>
              <a:t>Admission a = p̃ (native) or pᴬ (anchor admission).  Zero role updates recover the official map for that observation.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