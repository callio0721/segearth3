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SAM 3: Segment Anything with Concepts, arXiv:2511.16719.</a:t>
            </a:r>
          </a:p>
          <a:p>
            <a:r>
              <a:t>- SegEarth-OV3, arXiv:2512.08730v2.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Method figure created from the implemented Joint Role–View Grounding pipeline and local experiment evidence.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RESEARCH PROGRESS · AUG 2026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 i="0">
                <a:solidFill>
                  <a:srgbClr val="102A43"/>
                </a:solidFill>
              </a:defRPr>
            </a:pPr>
            <a:r>
              <a:rPr sz="3150" b="1" i="0">
                <a:solidFill>
                  <a:srgbClr val="102A43"/>
                </a:solidFill>
              </a:rPr>
              <a:t>Joint Role–View Grounding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01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2000250"/>
            <a:ext cx="1057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0">
                <a:solidFill>
                  <a:srgbClr val="66788A"/>
                </a:solidFill>
              </a:defRPr>
            </a:pPr>
            <a:r>
              <a:rPr sz="2100" b="0">
                <a:solidFill>
                  <a:srgbClr val="66788A"/>
                </a:solidFill>
              </a:rPr>
              <a:t>RolFun:Role-Functional Prompting and Visual-Field Complementarity </a:t>
            </a:r>
            <a:endParaRPr sz="2100" b="0">
              <a:solidFill>
                <a:srgbClr val="66788A"/>
              </a:solidFill>
            </a:endParaRPr>
          </a:p>
          <a:p>
            <a:pPr algn="ctr">
              <a:buNone/>
              <a:defRPr sz="2100" b="0">
                <a:solidFill>
                  <a:srgbClr val="66788A"/>
                </a:solidFill>
              </a:defRPr>
            </a:pPr>
            <a:r>
              <a:rPr sz="2100" b="0">
                <a:solidFill>
                  <a:srgbClr val="66788A"/>
                </a:solidFill>
              </a:rPr>
              <a:t>for Training-Free Remote Sensing OVSS</a:t>
            </a:r>
            <a:endParaRPr sz="2100" b="0">
              <a:solidFill>
                <a:srgbClr val="66788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2686050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078C8A"/>
                </a:solidFill>
              </a:defRPr>
            </a:pPr>
            <a:r>
              <a:rPr sz="1500" b="0">
                <a:solidFill>
                  <a:srgbClr val="078C8A"/>
                </a:solidFill>
              </a:rPr>
              <a:t>SAM3-native role-functional text and aligned visual-field grounding</a:t>
            </a:r>
            <a:endParaRPr sz="1500" b="0">
              <a:solidFill>
                <a:srgbClr val="078C8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610100" y="3476625"/>
            <a:ext cx="781050" cy="47625"/>
          </a:xfrm>
          <a:prstGeom prst="rect">
            <a:avLst/>
          </a:prstGeom>
          <a:solidFill>
            <a:srgbClr val="7145B5"/>
          </a:solidFill>
          <a:ln w="0">
            <a:solidFill>
              <a:srgbClr val="7145B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448300" y="3476625"/>
            <a:ext cx="781050" cy="47625"/>
          </a:xfrm>
          <a:prstGeom prst="rect">
            <a:avLst/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476625"/>
            <a:ext cx="781050" cy="47625"/>
          </a:xfrm>
          <a:prstGeom prst="rect">
            <a:avLst/>
          </a:prstGeom>
          <a:solidFill>
            <a:srgbClr val="F26B00"/>
          </a:solidFill>
          <a:ln w="0">
            <a:solidFill>
              <a:srgbClr val="F26B0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504825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66788A"/>
                </a:solidFill>
              </a:defRPr>
            </a:pPr>
            <a:r>
              <a:rPr sz="1425" b="0">
                <a:solidFill>
                  <a:srgbClr val="66788A"/>
                </a:solidFill>
              </a:rPr>
              <a:t>Peng Junhao · 2026.08</a:t>
            </a:r>
            <a:endParaRPr sz="1425" b="0">
              <a:solidFill>
                <a:srgbClr val="66788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RESEARCH BACKGROUND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遥感 OVSS 的核心矛盾，不只是“文本</a:t>
            </a:r>
            <a:r>
              <a:rPr sz="2400" b="1" i="0">
                <a:solidFill>
                  <a:srgbClr val="102A43"/>
                </a:solidFill>
              </a:rPr>
              <a:t>、图像</a:t>
            </a:r>
            <a:r>
              <a:rPr sz="2400" b="1" i="0">
                <a:solidFill>
                  <a:srgbClr val="102A43"/>
                </a:solidFill>
              </a:rPr>
              <a:t>不够遥感”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02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381125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自然图像预训练的开放词汇模型进入遥感后，同时面对 ontology、视觉尺度与</a:t>
            </a:r>
            <a:r>
              <a:rPr sz="1725" b="1" i="0">
                <a:solidFill>
                  <a:srgbClr val="FF0000"/>
                </a:solidFill>
              </a:rPr>
              <a:t>计算角色</a:t>
            </a:r>
            <a:r>
              <a:rPr sz="1725" b="1" i="0">
                <a:solidFill>
                  <a:srgbClr val="102A43"/>
                </a:solidFill>
              </a:rPr>
              <a:t>三类错位。</a:t>
            </a:r>
            <a:endParaRPr sz="1725" b="1" i="0">
              <a:solidFill>
                <a:srgbClr val="102A4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2095500"/>
            <a:ext cx="32385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4288">
            <a:solidFill>
              <a:srgbClr val="CF9A1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3050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 i="0">
                <a:solidFill>
                  <a:srgbClr val="CF9A19"/>
                </a:solidFill>
              </a:defRPr>
            </a:pPr>
            <a:r>
              <a:rPr sz="2250" b="1" i="0">
                <a:solidFill>
                  <a:srgbClr val="CF9A19"/>
                </a:solidFill>
              </a:rPr>
              <a:t>01</a:t>
            </a:r>
            <a:endParaRPr sz="2250" b="1" i="0">
              <a:solidFill>
                <a:srgbClr val="CF9A19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8384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Ontology gap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352800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road / pavement / bareland 的边界由数据集定义；一个通用自然语言模板无法替代 benchmark ontology。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86250" y="2095500"/>
            <a:ext cx="32385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4288">
            <a:solidFill>
              <a:srgbClr val="356A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4476750" y="23050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 i="0">
                <a:solidFill>
                  <a:srgbClr val="356AE6"/>
                </a:solidFill>
              </a:defRPr>
            </a:pPr>
            <a:r>
              <a:rPr sz="2250" b="1" i="0">
                <a:solidFill>
                  <a:srgbClr val="356AE6"/>
                </a:solidFill>
              </a:rPr>
              <a:t>02</a:t>
            </a:r>
            <a:endParaRPr sz="2250" b="1" i="0">
              <a:solidFill>
                <a:srgbClr val="356AE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76750" y="28384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Visual-field gap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3352800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车辆与建筑需要局部细节；道路与农田又依赖大范围连续结构。固定 crop 很难同时满足。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981950" y="2095500"/>
            <a:ext cx="32385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4288">
            <a:solidFill>
              <a:srgbClr val="7652A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8172450" y="230505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 i="0">
                <a:solidFill>
                  <a:srgbClr val="7652A8"/>
                </a:solidFill>
              </a:defRPr>
            </a:pPr>
            <a:r>
              <a:rPr sz="2250" b="1" i="0">
                <a:solidFill>
                  <a:srgbClr val="7652A8"/>
                </a:solidFill>
              </a:rPr>
              <a:t>03</a:t>
            </a:r>
            <a:endParaRPr sz="2250" b="1" i="0">
              <a:solidFill>
                <a:srgbClr val="7652A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72450" y="2838450"/>
            <a:ext cx="276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Role gap</a:t>
            </a:r>
            <a:endParaRPr sz="1650" b="1" i="0">
              <a:solidFill>
                <a:srgbClr val="102A4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72450" y="3352800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Presence 判断存在，Semantic 做密集覆盖，Instance 组织区域/实体；它们未必需要同一种补充信息。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52863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875" b="1" i="0">
                <a:solidFill>
                  <a:srgbClr val="078C8A"/>
                </a:solidFill>
              </a:defRPr>
            </a:pPr>
            <a:r>
              <a:rPr sz="1875" b="1" i="0">
                <a:solidFill>
                  <a:srgbClr val="078C8A"/>
                </a:solidFill>
              </a:rPr>
              <a:t>我们的切入点：把“类别适配”进一步分解成 Role × View 的信息适配。</a:t>
            </a:r>
            <a:endParaRPr sz="1875" b="1" i="0">
              <a:solidFill>
                <a:srgbClr val="078C8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RELATED WORK LINEAGE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相关工作在“校准概念”，但很少继续区分 SAM3 的计算角色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03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1666875"/>
            <a:ext cx="2428875" cy="3333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ConceptBank</a:t>
            </a:r>
            <a:endParaRPr sz="1500" b="1" i="0">
              <a:solidFill>
                <a:srgbClr val="102A43"/>
              </a:solidFill>
            </a:endParaRPr>
          </a:p>
        </p:txBody>
      </p:sp>
      <p:pic>
        <p:nvPicPr>
          <p:cNvPr id="38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309185"/>
            <a:ext cx="2162175" cy="128713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42950" y="390525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数据集/类别级概念库</a:t>
            </a:r>
            <a:endParaRPr sz="1200" b="0" i="0">
              <a:solidFill>
                <a:srgbClr val="52606D"/>
              </a:solidFill>
            </a:endParaRPr>
          </a:p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统一影响 SAM3 整体概念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381375" y="1666875"/>
            <a:ext cx="2428875" cy="3333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3533775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TMPA</a:t>
            </a:r>
            <a:endParaRPr sz="1500" b="1" i="0">
              <a:solidFill>
                <a:srgbClr val="102A43"/>
              </a:solidFill>
            </a:endParaRPr>
          </a:p>
        </p:txBody>
      </p:sp>
      <p:pic>
        <p:nvPicPr>
          <p:cNvPr id="42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2505053"/>
            <a:ext cx="2162175" cy="895395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3533775" y="390525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CLIP 范式测试时多提示适配</a:t>
            </a:r>
            <a:endParaRPr sz="1200" b="0" i="0">
              <a:solidFill>
                <a:srgbClr val="52606D"/>
              </a:solidFill>
            </a:endParaRPr>
          </a:p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图像视觉核心更新文本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72200" y="1666875"/>
            <a:ext cx="2428875" cy="3333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ProC-SAM3</a:t>
            </a:r>
            <a:endParaRPr sz="1500" b="1" i="0">
              <a:solidFill>
                <a:srgbClr val="102A43"/>
              </a:solidFill>
            </a:endParaRPr>
          </a:p>
        </p:txBody>
      </p:sp>
      <p:pic>
        <p:nvPicPr>
          <p:cNvPr id="46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393128"/>
            <a:ext cx="2162175" cy="1119244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6324600" y="390525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约束提示池 + 批量推理</a:t>
            </a:r>
            <a:endParaRPr sz="1200" b="0" i="0">
              <a:solidFill>
                <a:srgbClr val="52606D"/>
              </a:solidFill>
            </a:endParaRPr>
          </a:p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Presence-guided residual fusion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963025" y="1666875"/>
            <a:ext cx="2428875" cy="333375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E7781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9115425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E77817"/>
                </a:solidFill>
              </a:defRPr>
            </a:pPr>
            <a:r>
              <a:rPr sz="1500" b="1" i="0">
                <a:solidFill>
                  <a:srgbClr val="E77817"/>
                </a:solidFill>
              </a:rPr>
              <a:t>Our gap</a:t>
            </a:r>
            <a:endParaRPr sz="1500" b="1" i="0">
              <a:solidFill>
                <a:srgbClr val="E7781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48775" y="2419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550" b="1" i="0">
                <a:solidFill>
                  <a:srgbClr val="7652A8"/>
                </a:solidFill>
              </a:defRPr>
            </a:pPr>
            <a:r>
              <a:rPr sz="2550" b="1" i="0">
                <a:solidFill>
                  <a:srgbClr val="7652A8"/>
                </a:solidFill>
              </a:rPr>
              <a:t>P</a:t>
            </a:r>
            <a:endParaRPr sz="2550" b="1" i="0">
              <a:solidFill>
                <a:srgbClr val="7652A8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915525" y="2419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550" b="1" i="0">
                <a:solidFill>
                  <a:srgbClr val="078C8A"/>
                </a:solidFill>
              </a:defRPr>
            </a:pPr>
            <a:r>
              <a:rPr sz="2550" b="1" i="0">
                <a:solidFill>
                  <a:srgbClr val="078C8A"/>
                </a:solidFill>
              </a:rPr>
              <a:t>S</a:t>
            </a:r>
            <a:endParaRPr sz="2550" b="1" i="0">
              <a:solidFill>
                <a:srgbClr val="078C8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582275" y="2419350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550" b="1" i="0">
                <a:solidFill>
                  <a:srgbClr val="E77817"/>
                </a:solidFill>
              </a:defRPr>
            </a:pPr>
            <a:r>
              <a:rPr sz="2550" b="1" i="0">
                <a:solidFill>
                  <a:srgbClr val="E77817"/>
                </a:solidFill>
              </a:rPr>
              <a:t>I</a:t>
            </a:r>
            <a:endParaRPr sz="2550" b="1" i="0">
              <a:solidFill>
                <a:srgbClr val="E7781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725025" y="30480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 i="0">
                <a:solidFill>
                  <a:srgbClr val="7B8794"/>
                </a:solidFill>
              </a:defRPr>
            </a:pPr>
            <a:r>
              <a:rPr sz="2250" b="1" i="0">
                <a:solidFill>
                  <a:srgbClr val="7B8794"/>
                </a:solidFill>
              </a:rPr>
              <a:t>×</a:t>
            </a:r>
            <a:endParaRPr sz="2250" b="1" i="0">
              <a:solidFill>
                <a:srgbClr val="7B879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91625" y="3467100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356AE6"/>
                </a:solidFill>
              </a:defRPr>
            </a:pPr>
            <a:r>
              <a:rPr sz="1350" b="1" i="0">
                <a:solidFill>
                  <a:srgbClr val="356AE6"/>
                </a:solidFill>
              </a:rPr>
              <a:t>Local / Context</a:t>
            </a:r>
            <a:endParaRPr sz="1350" b="1" i="0">
              <a:solidFill>
                <a:srgbClr val="356AE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15425" y="390525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 i="0">
                <a:solidFill>
                  <a:srgbClr val="52606D"/>
                </a:solidFill>
              </a:defRPr>
            </a:pPr>
            <a:r>
              <a:rPr sz="1200" b="1" i="0">
                <a:solidFill>
                  <a:srgbClr val="52606D"/>
                </a:solidFill>
              </a:rPr>
              <a:t>同一类别内部：P / S / I 对语言与视野的需求是否不同？</a:t>
            </a:r>
            <a:endParaRPr sz="1200" b="1" i="0">
              <a:solidFill>
                <a:srgbClr val="52606D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590550" y="5334000"/>
            <a:ext cx="10801350" cy="685800"/>
          </a:xfrm>
          <a:prstGeom prst="roundRect">
            <a:avLst>
              <a:gd name="adj" fmla="val 11111"/>
            </a:avLst>
          </a:prstGeom>
          <a:solidFill>
            <a:srgbClr val="EEF5FF"/>
          </a:solidFill>
          <a:ln w="9525">
            <a:solidFill>
              <a:srgbClr val="356AE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55245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研究空隙：现有工作多以“类别”为校准单位；我们把校准单位进一步细化到 computational role 与 visual field。</a:t>
            </a:r>
            <a:endParaRPr sz="1575" b="1" i="0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SEGEARTH-OV3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Baseline：SAM3 先共享 grounding，再由三路证据完成像素分类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04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1428750"/>
            <a:ext cx="7667625" cy="433387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6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854486"/>
            <a:ext cx="7362825" cy="3491928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8667750" y="16668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Native evidence</a:t>
            </a:r>
            <a:endParaRPr sz="1350" b="1" i="0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67750" y="21717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 i="0">
                <a:solidFill>
                  <a:srgbClr val="7652A8"/>
                </a:solidFill>
              </a:defRPr>
            </a:pPr>
            <a:r>
              <a:rPr sz="1200" b="1" i="0">
                <a:solidFill>
                  <a:srgbClr val="7652A8"/>
                </a:solidFill>
              </a:rPr>
              <a:t>Presence</a:t>
            </a:r>
            <a:endParaRPr sz="1200" b="1" i="0">
              <a:solidFill>
                <a:srgbClr val="7652A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72650" y="21717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p_c：类别是否存在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67750" y="25717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 i="0">
                <a:solidFill>
                  <a:srgbClr val="078C8A"/>
                </a:solidFill>
              </a:defRPr>
            </a:pPr>
            <a:r>
              <a:rPr sz="1200" b="1" i="0">
                <a:solidFill>
                  <a:srgbClr val="078C8A"/>
                </a:solidFill>
              </a:rPr>
              <a:t>Semantic</a:t>
            </a:r>
            <a:endParaRPr sz="1200" b="1" i="0">
              <a:solidFill>
                <a:srgbClr val="078C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72650" y="25717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S_c(x)：密集类别响应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0" y="29718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 i="0">
                <a:solidFill>
                  <a:srgbClr val="E77817"/>
                </a:solidFill>
              </a:defRPr>
            </a:pPr>
            <a:r>
              <a:rPr sz="1200" b="1" i="0">
                <a:solidFill>
                  <a:srgbClr val="E77817"/>
                </a:solidFill>
              </a:rPr>
              <a:t>Instance</a:t>
            </a:r>
            <a:endParaRPr sz="1200" b="1" i="0">
              <a:solidFill>
                <a:srgbClr val="E7781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72650" y="29718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I_c(x)：query mask 证据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72500" y="3600450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EEF5FF"/>
          </a:solidFill>
          <a:ln w="9525">
            <a:solidFill>
              <a:srgbClr val="356A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0" y="373888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F_c(x) = p_c · max(S_c(x), I_c(x))</a:t>
            </a:r>
            <a:endParaRPr sz="1575" b="1" i="0">
              <a:solidFill>
                <a:srgbClr val="102A4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0460" y="43148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最后跨类别 argmax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0" y="5000625"/>
            <a:ext cx="285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 i="0">
                <a:solidFill>
                  <a:srgbClr val="E45A45"/>
                </a:solidFill>
              </a:defRPr>
            </a:pPr>
            <a:r>
              <a:rPr sz="1425" b="1" i="0">
                <a:solidFill>
                  <a:srgbClr val="E45A45"/>
                </a:solidFill>
              </a:rPr>
              <a:t>关键假设：一个文本 concept </a:t>
            </a:r>
            <a:endParaRPr sz="1425" b="1" i="0">
              <a:solidFill>
                <a:srgbClr val="E45A45"/>
              </a:solidFill>
            </a:endParaRPr>
          </a:p>
          <a:p>
            <a:pPr algn="ctr">
              <a:buNone/>
              <a:defRPr sz="1425" b="1" i="0">
                <a:solidFill>
                  <a:srgbClr val="E45A45"/>
                </a:solidFill>
              </a:defRPr>
            </a:pPr>
            <a:r>
              <a:rPr sz="1425" b="1" i="0">
                <a:solidFill>
                  <a:srgbClr val="E45A45"/>
                </a:solidFill>
              </a:rPr>
              <a:t>与一个固定视野，</a:t>
            </a:r>
            <a:endParaRPr sz="1425" b="1" i="0">
              <a:solidFill>
                <a:srgbClr val="E45A45"/>
              </a:solidFill>
            </a:endParaRPr>
          </a:p>
          <a:p>
            <a:pPr algn="ctr">
              <a:buNone/>
              <a:defRPr sz="1425" b="1" i="0">
                <a:solidFill>
                  <a:srgbClr val="E45A45"/>
                </a:solidFill>
              </a:defRPr>
            </a:pPr>
            <a:r>
              <a:rPr sz="1425" b="1" i="0">
                <a:solidFill>
                  <a:srgbClr val="E45A45"/>
                </a:solidFill>
              </a:rPr>
              <a:t>足以同时服务 P / S / I。</a:t>
            </a:r>
            <a:endParaRPr sz="1425" b="1" i="0">
              <a:solidFill>
                <a:srgbClr val="E45A4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SAM3 INTERNALS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放大 SAM3：共享 grounding 如何形成 Presence / Semantic / Instance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05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7700" y="1466850"/>
            <a:ext cx="10896600" cy="4638675"/>
          </a:xfrm>
          <a:prstGeom prst="roundRect">
            <a:avLst>
              <a:gd name="adj" fmla="val 1643"/>
            </a:avLst>
          </a:prstGeom>
          <a:solidFill>
            <a:srgbClr val="F5F8FB"/>
          </a:solidFill>
          <a:ln w="11430">
            <a:solidFill>
              <a:srgbClr val="D7E1EA"/>
            </a:solidFill>
            <a:prstDash val="solid"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2238375" y="2143125"/>
            <a:ext cx="361950" cy="209550"/>
          </a:xfrm>
          <a:prstGeom prst="rightArrow">
            <a:avLst/>
          </a:prstGeom>
          <a:solidFill>
            <a:srgbClr val="66788A"/>
          </a:solidFill>
          <a:ln w="0">
            <a:solidFill>
              <a:srgbClr val="66788A"/>
            </a:solidFill>
            <a:prstDash val="solid"/>
          </a:ln>
        </p:spPr>
      </p:sp>
      <p:sp>
        <p:nvSpPr>
          <p:cNvPr id="22" name="右箭头 21"/>
          <p:cNvSpPr>
            <a:spLocks noGrp="1"/>
          </p:cNvSpPr>
          <p:nvPr/>
        </p:nvSpPr>
        <p:spPr>
          <a:xfrm>
            <a:off x="4305300" y="2143125"/>
            <a:ext cx="361950" cy="209550"/>
          </a:xfrm>
          <a:prstGeom prst="rightArrow">
            <a:avLst/>
          </a:prstGeom>
          <a:solidFill>
            <a:srgbClr val="66788A"/>
          </a:solidFill>
          <a:ln w="0">
            <a:solidFill>
              <a:srgbClr val="66788A"/>
            </a:solidFill>
            <a:prstDash val="solid"/>
          </a:ln>
        </p:spPr>
      </p:sp>
      <p:sp>
        <p:nvSpPr>
          <p:cNvPr id="23" name="右箭头 22"/>
          <p:cNvSpPr>
            <a:spLocks noGrp="1"/>
          </p:cNvSpPr>
          <p:nvPr/>
        </p:nvSpPr>
        <p:spPr>
          <a:xfrm>
            <a:off x="6743700" y="2143125"/>
            <a:ext cx="361950" cy="209550"/>
          </a:xfrm>
          <a:prstGeom prst="rightArrow">
            <a:avLst/>
          </a:prstGeom>
          <a:solidFill>
            <a:srgbClr val="66788A"/>
          </a:solidFill>
          <a:ln w="0">
            <a:solidFill>
              <a:srgbClr val="66788A"/>
            </a:solidFill>
            <a:prstDash val="solid"/>
          </a:ln>
        </p:spPr>
      </p:sp>
      <p:sp>
        <p:nvSpPr>
          <p:cNvPr id="24" name="下箭头 23"/>
          <p:cNvSpPr>
            <a:spLocks noGrp="1"/>
          </p:cNvSpPr>
          <p:nvPr/>
        </p:nvSpPr>
        <p:spPr>
          <a:xfrm>
            <a:off x="7715250" y="2857500"/>
            <a:ext cx="228600" cy="323850"/>
          </a:xfrm>
          <a:prstGeom prst="downArrow">
            <a:avLst/>
          </a:prstGeom>
          <a:solidFill>
            <a:srgbClr val="7145B5"/>
          </a:solidFill>
          <a:ln w="0">
            <a:solidFill>
              <a:srgbClr val="7145B5"/>
            </a:solidFill>
            <a:prstDash val="solid"/>
          </a:ln>
        </p:spPr>
      </p:sp>
      <p:sp>
        <p:nvSpPr>
          <p:cNvPr id="25" name="下箭头 24"/>
          <p:cNvSpPr>
            <a:spLocks noGrp="1"/>
          </p:cNvSpPr>
          <p:nvPr/>
        </p:nvSpPr>
        <p:spPr>
          <a:xfrm>
            <a:off x="5876925" y="2857500"/>
            <a:ext cx="228600" cy="323850"/>
          </a:xfrm>
          <a:prstGeom prst="downArrow">
            <a:avLst/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26" name="下箭头 25"/>
          <p:cNvSpPr>
            <a:spLocks noGrp="1"/>
          </p:cNvSpPr>
          <p:nvPr/>
        </p:nvSpPr>
        <p:spPr>
          <a:xfrm>
            <a:off x="9601200" y="2857500"/>
            <a:ext cx="228600" cy="323850"/>
          </a:xfrm>
          <a:prstGeom prst="downArrow">
            <a:avLst/>
          </a:prstGeom>
          <a:solidFill>
            <a:srgbClr val="F26B00"/>
          </a:solidFill>
          <a:ln w="0">
            <a:solidFill>
              <a:srgbClr val="F26B00"/>
            </a:solidFill>
            <a:prstDash val="solid"/>
          </a:ln>
        </p:spPr>
      </p:sp>
      <p:sp>
        <p:nvSpPr>
          <p:cNvPr id="27" name="右箭头 26"/>
          <p:cNvSpPr>
            <a:spLocks noGrp="1"/>
          </p:cNvSpPr>
          <p:nvPr/>
        </p:nvSpPr>
        <p:spPr>
          <a:xfrm>
            <a:off x="2228850" y="4171950"/>
            <a:ext cx="114300" cy="114300"/>
          </a:xfrm>
          <a:prstGeom prst="rightArrow">
            <a:avLst/>
          </a:prstGeom>
          <a:solidFill>
            <a:srgbClr val="7145B5"/>
          </a:solidFill>
          <a:ln w="0">
            <a:solidFill>
              <a:srgbClr val="7145B5"/>
            </a:solidFill>
            <a:prstDash val="solid"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3543300" y="4171950"/>
            <a:ext cx="95250" cy="114300"/>
          </a:xfrm>
          <a:prstGeom prst="rightArrow">
            <a:avLst/>
          </a:prstGeom>
          <a:solidFill>
            <a:srgbClr val="7145B5"/>
          </a:solidFill>
          <a:ln w="0">
            <a:solidFill>
              <a:srgbClr val="7145B5"/>
            </a:solidFill>
            <a:prstDash val="solid"/>
          </a:ln>
        </p:spPr>
      </p:sp>
      <p:sp>
        <p:nvSpPr>
          <p:cNvPr id="29" name="右箭头 28"/>
          <p:cNvSpPr>
            <a:spLocks noGrp="1"/>
          </p:cNvSpPr>
          <p:nvPr/>
        </p:nvSpPr>
        <p:spPr>
          <a:xfrm>
            <a:off x="5810250" y="4171950"/>
            <a:ext cx="95250" cy="114300"/>
          </a:xfrm>
          <a:prstGeom prst="rightArrow">
            <a:avLst/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30" name="右箭头 29"/>
          <p:cNvSpPr>
            <a:spLocks noGrp="1"/>
          </p:cNvSpPr>
          <p:nvPr/>
        </p:nvSpPr>
        <p:spPr>
          <a:xfrm>
            <a:off x="9448800" y="4171950"/>
            <a:ext cx="95250" cy="114300"/>
          </a:xfrm>
          <a:prstGeom prst="rightArrow">
            <a:avLst/>
          </a:prstGeom>
          <a:solidFill>
            <a:srgbClr val="F26B00"/>
          </a:solidFill>
          <a:ln w="0">
            <a:solidFill>
              <a:srgbClr val="F26B00"/>
            </a:solidFill>
            <a:prstDash val="solid"/>
          </a:ln>
        </p:spPr>
      </p:sp>
      <p:sp>
        <p:nvSpPr>
          <p:cNvPr id="31" name="右箭头 30"/>
          <p:cNvSpPr>
            <a:spLocks noGrp="1"/>
          </p:cNvSpPr>
          <p:nvPr/>
        </p:nvSpPr>
        <p:spPr>
          <a:xfrm>
            <a:off x="10610850" y="4171950"/>
            <a:ext cx="57150" cy="114300"/>
          </a:xfrm>
          <a:prstGeom prst="rightArrow">
            <a:avLst/>
          </a:prstGeom>
          <a:solidFill>
            <a:srgbClr val="F26B00"/>
          </a:solidFill>
          <a:ln w="0">
            <a:solidFill>
              <a:srgbClr val="F26B00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76300" y="1809750"/>
            <a:ext cx="1285875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11430">
            <a:solidFill>
              <a:srgbClr val="2767C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1828800"/>
            <a:ext cx="1133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767C7"/>
                </a:solidFill>
              </a:defRPr>
            </a:pPr>
            <a:r>
              <a:rPr sz="1275" b="1">
                <a:solidFill>
                  <a:srgbClr val="2767C7"/>
                </a:solidFill>
              </a:rPr>
              <a:t>Image X</a:t>
            </a:r>
            <a:endParaRPr sz="1275" b="1">
              <a:solidFill>
                <a:srgbClr val="2767C7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876300" y="2362200"/>
            <a:ext cx="1285875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430">
            <a:solidFill>
              <a:srgbClr val="102A43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29945" y="2371725"/>
            <a:ext cx="13322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Concept:</a:t>
            </a:r>
            <a:r>
              <a:rPr sz="1275" b="1">
                <a:solidFill>
                  <a:srgbClr val="102A43"/>
                </a:solidFill>
              </a:rPr>
              <a:t> </a:t>
            </a:r>
            <a:r>
              <a:rPr sz="1275" b="1">
                <a:solidFill>
                  <a:srgbClr val="102A43"/>
                </a:solidFill>
              </a:rPr>
              <a:t>road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2609850" y="1733550"/>
            <a:ext cx="1676400" cy="106680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4288">
            <a:solidFill>
              <a:srgbClr val="2767C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762250" y="18288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767C7"/>
                </a:solidFill>
              </a:defRPr>
            </a:pPr>
            <a:r>
              <a:rPr sz="1425" b="1">
                <a:solidFill>
                  <a:srgbClr val="2767C7"/>
                </a:solidFill>
              </a:rPr>
              <a:t>Perception Encoder</a:t>
            </a:r>
            <a:endParaRPr sz="1425" b="1">
              <a:solidFill>
                <a:srgbClr val="2767C7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762250" y="2200275"/>
            <a:ext cx="1371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vision tokens V</a:t>
            </a:r>
            <a:endParaRPr sz="1125" b="0">
              <a:solidFill>
                <a:srgbClr val="66788A"/>
              </a:solidFill>
            </a:endParaRPr>
          </a:p>
          <a:p>
            <a:pPr algn="ctr">
              <a:buNone/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text tokens T_c</a:t>
            </a:r>
            <a:endParaRPr sz="1125" b="0">
              <a:solidFill>
                <a:srgbClr val="66788A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686300" y="1733550"/>
            <a:ext cx="2038350" cy="1066800"/>
          </a:xfrm>
          <a:prstGeom prst="roundRect">
            <a:avLst>
              <a:gd name="adj" fmla="val 7143"/>
            </a:avLst>
          </a:prstGeom>
          <a:solidFill>
            <a:srgbClr val="E8F7F5"/>
          </a:solidFill>
          <a:ln w="14288">
            <a:solidFill>
              <a:srgbClr val="078C8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857750" y="18478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078C8A"/>
                </a:solidFill>
              </a:defRPr>
            </a:pPr>
            <a:r>
              <a:rPr sz="1425" b="1">
                <a:solidFill>
                  <a:srgbClr val="078C8A"/>
                </a:solidFill>
              </a:rPr>
              <a:t>Fusion Encoder</a:t>
            </a:r>
            <a:endParaRPr sz="1425" b="1">
              <a:solidFill>
                <a:srgbClr val="078C8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857750" y="2209800"/>
            <a:ext cx="169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T_c cross-attends V</a:t>
            </a:r>
            <a:endParaRPr sz="1125" b="0">
              <a:solidFill>
                <a:srgbClr val="66788A"/>
              </a:solidFill>
            </a:endParaRPr>
          </a:p>
          <a:p>
            <a:pPr algn="ctr">
              <a:buNone/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conditioned memory H_c</a:t>
            </a:r>
            <a:endParaRPr sz="1125" b="0">
              <a:solidFill>
                <a:srgbClr val="66788A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7143750" y="1733550"/>
            <a:ext cx="2952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173F5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334250" y="177292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Shared conditioned states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7353300" y="2209800"/>
            <a:ext cx="1295400" cy="323850"/>
          </a:xfrm>
          <a:prstGeom prst="roundRect">
            <a:avLst>
              <a:gd name="adj" fmla="val 23529"/>
            </a:avLst>
          </a:prstGeom>
          <a:solidFill>
            <a:srgbClr val="E8F7F5"/>
          </a:solidFill>
          <a:ln w="11430">
            <a:solidFill>
              <a:srgbClr val="078C8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410450" y="22288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078C8A"/>
                </a:solidFill>
              </a:defRPr>
            </a:pPr>
            <a:r>
              <a:rPr sz="1050" b="1">
                <a:solidFill>
                  <a:srgbClr val="078C8A"/>
                </a:solidFill>
              </a:rPr>
              <a:t>Dense memory H_c</a:t>
            </a:r>
            <a:endParaRPr sz="1050" b="1">
              <a:solidFill>
                <a:srgbClr val="078C8A"/>
              </a:solidFill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743950" y="2044700"/>
            <a:ext cx="1162050" cy="641350"/>
          </a:xfrm>
          <a:prstGeom prst="roundRect">
            <a:avLst>
              <a:gd name="adj" fmla="val 23529"/>
            </a:avLst>
          </a:prstGeom>
          <a:solidFill>
            <a:srgbClr val="F2ECFA"/>
          </a:solidFill>
          <a:ln w="11430">
            <a:solidFill>
              <a:srgbClr val="7145B5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801100" y="2219325"/>
            <a:ext cx="1047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7145B5"/>
                </a:solidFill>
              </a:defRPr>
            </a:pPr>
            <a:r>
              <a:rPr sz="975" b="1">
                <a:solidFill>
                  <a:srgbClr val="7145B5"/>
                </a:solidFill>
              </a:rPr>
              <a:t>Presence token</a:t>
            </a:r>
            <a:endParaRPr sz="975" b="1">
              <a:solidFill>
                <a:srgbClr val="7145B5"/>
              </a:solidFill>
            </a:endParaRPr>
          </a:p>
          <a:p>
            <a:pPr algn="ctr">
              <a:buNone/>
              <a:defRPr sz="975" b="1">
                <a:solidFill>
                  <a:srgbClr val="7145B5"/>
                </a:solidFill>
              </a:defRPr>
            </a:pPr>
            <a:r>
              <a:rPr sz="975" b="1">
                <a:solidFill>
                  <a:srgbClr val="7145B5"/>
                </a:solidFill>
              </a:rPr>
              <a:t>+ object queries</a:t>
            </a:r>
            <a:endParaRPr sz="975" b="1">
              <a:solidFill>
                <a:srgbClr val="7145B5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210800" y="1847850"/>
            <a:ext cx="1066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同一 concept</a:t>
            </a:r>
            <a:endParaRPr sz="1200" b="1">
              <a:solidFill>
                <a:srgbClr val="102A43"/>
              </a:solidFill>
            </a:endParaRPr>
          </a:p>
          <a:p>
            <a:pPr algn="ctr"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先完成一次共享条件化</a:t>
            </a:r>
            <a:endParaRPr sz="1200" b="1">
              <a:solidFill>
                <a:srgbClr val="102A43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76300" y="3333750"/>
            <a:ext cx="3371850" cy="1790700"/>
          </a:xfrm>
          <a:prstGeom prst="roundRect">
            <a:avLst>
              <a:gd name="adj" fmla="val 4255"/>
            </a:avLst>
          </a:prstGeom>
          <a:solidFill>
            <a:srgbClr val="F2ECFA"/>
          </a:solidFill>
          <a:ln w="15240">
            <a:solidFill>
              <a:srgbClr val="7145B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47750" y="3486150"/>
            <a:ext cx="3028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7145B5"/>
                </a:solidFill>
              </a:defRPr>
            </a:pPr>
            <a:r>
              <a:rPr sz="1725" b="1">
                <a:solidFill>
                  <a:srgbClr val="7145B5"/>
                </a:solidFill>
              </a:rPr>
              <a:t>Presence  P</a:t>
            </a:r>
            <a:endParaRPr sz="1725" b="1">
              <a:solidFill>
                <a:srgbClr val="7145B5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066800" y="3943350"/>
            <a:ext cx="1143000" cy="4191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430">
            <a:solidFill>
              <a:srgbClr val="7145B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52500" y="4000500"/>
            <a:ext cx="133159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145B5"/>
                </a:solidFill>
              </a:defRPr>
            </a:pPr>
            <a:r>
              <a:rPr sz="1275" b="1">
                <a:solidFill>
                  <a:srgbClr val="7145B5"/>
                </a:solidFill>
              </a:rPr>
              <a:t>Presence</a:t>
            </a:r>
            <a:r>
              <a:rPr sz="1275" b="1">
                <a:solidFill>
                  <a:srgbClr val="7145B5"/>
                </a:solidFill>
              </a:rPr>
              <a:t> </a:t>
            </a:r>
            <a:r>
              <a:rPr sz="1275" b="1">
                <a:solidFill>
                  <a:srgbClr val="7145B5"/>
                </a:solidFill>
              </a:rPr>
              <a:t>token</a:t>
            </a:r>
            <a:endParaRPr sz="1275" b="1">
              <a:solidFill>
                <a:srgbClr val="7145B5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362200" y="3905250"/>
            <a:ext cx="11620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145B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438400" y="3943350"/>
            <a:ext cx="1009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Transformer</a:t>
            </a:r>
            <a:endParaRPr sz="1050" b="1">
              <a:solidFill>
                <a:srgbClr val="102A43"/>
              </a:solidFill>
            </a:endParaRPr>
          </a:p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decoder</a:t>
            </a:r>
            <a:endParaRPr sz="1050" b="1">
              <a:solidFill>
                <a:srgbClr val="102A43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3581400" y="3905250"/>
            <a:ext cx="5524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7145B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638550" y="3962400"/>
            <a:ext cx="49466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7145B5"/>
                </a:solidFill>
              </a:defRPr>
            </a:pPr>
            <a:r>
              <a:rPr sz="1125" b="1">
                <a:solidFill>
                  <a:srgbClr val="7145B5"/>
                </a:solidFill>
              </a:rPr>
              <a:t>M</a:t>
            </a:r>
            <a:r>
              <a:rPr sz="1125" b="1">
                <a:solidFill>
                  <a:srgbClr val="7145B5"/>
                </a:solidFill>
              </a:rPr>
              <a:t>L</a:t>
            </a:r>
            <a:r>
              <a:rPr sz="1125" b="1">
                <a:solidFill>
                  <a:srgbClr val="7145B5"/>
                </a:solidFill>
              </a:rPr>
              <a:t>P</a:t>
            </a:r>
            <a:endParaRPr sz="1125" b="1">
              <a:solidFill>
                <a:srgbClr val="7145B5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066800" y="4572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7145B5"/>
                </a:solidFill>
              </a:defRPr>
            </a:pPr>
            <a:r>
              <a:rPr sz="1350" b="1">
                <a:solidFill>
                  <a:srgbClr val="7145B5"/>
                </a:solidFill>
              </a:rPr>
              <a:t>p_c  ·  concept existence</a:t>
            </a:r>
            <a:endParaRPr sz="1350" b="1">
              <a:solidFill>
                <a:srgbClr val="7145B5"/>
              </a:solidFill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4476750" y="3333750"/>
            <a:ext cx="3143250" cy="1790700"/>
          </a:xfrm>
          <a:prstGeom prst="roundRect">
            <a:avLst>
              <a:gd name="adj" fmla="val 4255"/>
            </a:avLst>
          </a:prstGeom>
          <a:solidFill>
            <a:srgbClr val="E8F7F5"/>
          </a:solidFill>
          <a:ln w="15240">
            <a:solidFill>
              <a:srgbClr val="078C8A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648200" y="348615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078C8A"/>
                </a:solidFill>
              </a:defRPr>
            </a:pPr>
            <a:r>
              <a:rPr sz="1725" b="1">
                <a:solidFill>
                  <a:srgbClr val="078C8A"/>
                </a:solidFill>
              </a:rPr>
              <a:t>Semantic  S</a:t>
            </a:r>
            <a:endParaRPr sz="1725" b="1">
              <a:solidFill>
                <a:srgbClr val="078C8A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4667250" y="3918585"/>
            <a:ext cx="1123950" cy="38671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430">
            <a:solidFill>
              <a:srgbClr val="078C8A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743450" y="3962400"/>
            <a:ext cx="97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8C8A"/>
                </a:solidFill>
              </a:defRPr>
            </a:pPr>
            <a:r>
              <a:rPr sz="1275" b="1">
                <a:solidFill>
                  <a:srgbClr val="078C8A"/>
                </a:solidFill>
              </a:rPr>
              <a:t>Dense H_c</a:t>
            </a:r>
            <a:endParaRPr sz="1275" b="1">
              <a:solidFill>
                <a:srgbClr val="078C8A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5905500" y="3905250"/>
            <a:ext cx="13716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078C8A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000750" y="3933825"/>
            <a:ext cx="118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SimpleFPN +</a:t>
            </a:r>
            <a:endParaRPr sz="1050" b="1">
              <a:solidFill>
                <a:srgbClr val="102A43"/>
              </a:solidFill>
            </a:endParaRPr>
          </a:p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shared seg. head</a:t>
            </a:r>
            <a:endParaRPr sz="1050" b="1">
              <a:solidFill>
                <a:srgbClr val="102A43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4609465" y="4572000"/>
            <a:ext cx="30105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8C8A"/>
                </a:solidFill>
              </a:defRPr>
            </a:pPr>
            <a:r>
              <a:rPr sz="1275" b="1">
                <a:solidFill>
                  <a:srgbClr val="078C8A"/>
                </a:solidFill>
              </a:rPr>
              <a:t>S_c(x)  ·  dense semantic coverage</a:t>
            </a:r>
            <a:endParaRPr sz="1275" b="1">
              <a:solidFill>
                <a:srgbClr val="078C8A"/>
              </a:solidFill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7848600" y="3333750"/>
            <a:ext cx="3475355" cy="1790700"/>
          </a:xfrm>
          <a:prstGeom prst="roundRect">
            <a:avLst>
              <a:gd name="adj" fmla="val 4255"/>
            </a:avLst>
          </a:prstGeom>
          <a:solidFill>
            <a:srgbClr val="FFF1E8"/>
          </a:solidFill>
          <a:ln w="15240">
            <a:solidFill>
              <a:srgbClr val="F26B0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8020050" y="3486150"/>
            <a:ext cx="3086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F26B00"/>
                </a:solidFill>
              </a:defRPr>
            </a:pPr>
            <a:r>
              <a:rPr sz="1725" b="1">
                <a:solidFill>
                  <a:srgbClr val="F26B00"/>
                </a:solidFill>
              </a:rPr>
              <a:t>Instance  I</a:t>
            </a:r>
            <a:endParaRPr sz="1725" b="1">
              <a:solidFill>
                <a:srgbClr val="F26B00"/>
              </a:solidFill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8039100" y="3943350"/>
            <a:ext cx="1390650" cy="4572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1430">
            <a:solidFill>
              <a:srgbClr val="F26B00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8112125" y="40195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26B00"/>
                </a:solidFill>
              </a:defRPr>
            </a:pPr>
            <a:r>
              <a:rPr sz="1275" b="1">
                <a:solidFill>
                  <a:srgbClr val="F26B00"/>
                </a:solidFill>
              </a:rPr>
              <a:t>Object queries Q</a:t>
            </a:r>
            <a:endParaRPr sz="1275" b="1">
              <a:solidFill>
                <a:srgbClr val="F26B00"/>
              </a:solidFill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9563100" y="39052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26B00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658350" y="3933825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DETR-like</a:t>
            </a:r>
            <a:endParaRPr sz="1050" b="1">
              <a:solidFill>
                <a:srgbClr val="102A43"/>
              </a:solidFill>
            </a:endParaRPr>
          </a:p>
          <a:p>
            <a:pPr algn="ctr">
              <a:buNone/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decoder</a:t>
            </a:r>
            <a:endParaRPr sz="1050" b="1">
              <a:solidFill>
                <a:srgbClr val="102A43"/>
              </a:solidFill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10668000" y="3905250"/>
            <a:ext cx="6096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26B00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0725150" y="3943350"/>
            <a:ext cx="49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F26B00"/>
                </a:solidFill>
              </a:defRPr>
            </a:pPr>
            <a:r>
              <a:rPr sz="900" b="1">
                <a:solidFill>
                  <a:srgbClr val="F26B00"/>
                </a:solidFill>
              </a:rPr>
              <a:t>Mask</a:t>
            </a:r>
            <a:endParaRPr sz="900" b="1">
              <a:solidFill>
                <a:srgbClr val="F26B00"/>
              </a:solidFill>
            </a:endParaRPr>
          </a:p>
          <a:p>
            <a:pPr algn="ctr">
              <a:buNone/>
              <a:defRPr sz="900" b="1">
                <a:solidFill>
                  <a:srgbClr val="F26B00"/>
                </a:solidFill>
              </a:defRPr>
            </a:pPr>
            <a:r>
              <a:rPr sz="900" b="1">
                <a:solidFill>
                  <a:srgbClr val="F26B00"/>
                </a:solidFill>
              </a:rPr>
              <a:t>head</a:t>
            </a:r>
            <a:endParaRPr sz="900" b="1">
              <a:solidFill>
                <a:srgbClr val="F26B00"/>
              </a:solidFill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039100" y="45529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26B00"/>
                </a:solidFill>
              </a:defRPr>
            </a:pPr>
            <a:r>
              <a:rPr sz="1275" b="1">
                <a:solidFill>
                  <a:srgbClr val="F26B00"/>
                </a:solidFill>
              </a:rPr>
              <a:t>M_cq(x), r_cq  →  I_c(x)</a:t>
            </a:r>
            <a:endParaRPr sz="1275" b="1">
              <a:solidFill>
                <a:srgbClr val="F26B00"/>
              </a:solidFill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8039100" y="481965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66788A"/>
                </a:solidFill>
              </a:defRPr>
            </a:pPr>
            <a:r>
              <a:rPr sz="1125" b="0">
                <a:solidFill>
                  <a:srgbClr val="66788A"/>
                </a:solidFill>
              </a:rPr>
              <a:t>query-organized regions</a:t>
            </a:r>
            <a:endParaRPr sz="1125" b="0">
              <a:solidFill>
                <a:srgbClr val="66788A"/>
              </a:solidFill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876300" y="5372100"/>
            <a:ext cx="104013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028700" y="5438775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Shared grounding is coupled; the readouts are role-specific: </a:t>
            </a:r>
            <a:endParaRPr sz="1275" b="1">
              <a:solidFill>
                <a:srgbClr val="102A43"/>
              </a:solidFill>
            </a:endParaRPr>
          </a:p>
          <a:p>
            <a:pPr algn="ct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 P judges existence, S covers dense regions, I organizes query masks.</a:t>
            </a:r>
            <a:endParaRPr sz="1275" b="1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OBSERVATION 1 · ROLE HETEROGENEITY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问题一：同一个“road”无法同时表达三种计算职责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06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1571625"/>
            <a:ext cx="2381250" cy="4095750"/>
          </a:xfrm>
          <a:prstGeom prst="roundRect">
            <a:avLst>
              <a:gd name="adj" fmla="val 3200"/>
            </a:avLst>
          </a:prstGeom>
          <a:solidFill>
            <a:srgbClr val="EEF5FF"/>
          </a:solidFill>
          <a:ln w="9525">
            <a:solidFill>
              <a:srgbClr val="356A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7907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Ontology Anchor</a:t>
            </a:r>
            <a:endParaRPr sz="1350" b="1" i="0">
              <a:solidFill>
                <a:srgbClr val="102A4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3050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road</a:t>
            </a:r>
            <a:endParaRPr sz="2850" b="1" i="0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1051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定义“分什么”</a:t>
            </a:r>
            <a:endParaRPr sz="1350" b="0" i="0">
              <a:solidFill>
                <a:srgbClr val="52606D"/>
              </a:solidFill>
            </a:endParaRPr>
          </a:p>
          <a:p>
            <a:pPr algn="ctr"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必须保留数据集类别边界</a:t>
            </a:r>
            <a:endParaRPr sz="1350" b="0" i="0">
              <a:solidFill>
                <a:srgbClr val="52606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3624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 i="0">
                <a:solidFill>
                  <a:srgbClr val="356AE6"/>
                </a:solidFill>
              </a:defRPr>
            </a:pPr>
            <a:r>
              <a:rPr sz="1200" b="1" i="0">
                <a:solidFill>
                  <a:srgbClr val="356AE6"/>
                </a:solidFill>
              </a:rPr>
              <a:t>共享 anchor 仍承担三路</a:t>
            </a:r>
            <a:endParaRPr sz="1200" b="1" i="0">
              <a:solidFill>
                <a:srgbClr val="356AE6"/>
              </a:solidFill>
            </a:endParaRPr>
          </a:p>
          <a:p>
            <a:pPr algn="ctr">
              <a:buNone/>
              <a:defRPr sz="1200" b="1" i="0">
                <a:solidFill>
                  <a:srgbClr val="356AE6"/>
                </a:solidFill>
              </a:defRPr>
            </a:pPr>
            <a:r>
              <a:rPr sz="1200" b="1" i="0">
                <a:solidFill>
                  <a:srgbClr val="356AE6"/>
                </a:solidFill>
              </a:rPr>
              <a:t>grounding 的基本共识</a:t>
            </a:r>
            <a:endParaRPr sz="1200" b="1" i="0">
              <a:solidFill>
                <a:srgbClr val="356AE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524250" y="1571625"/>
            <a:ext cx="7429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4288">
            <a:solidFill>
              <a:srgbClr val="7652A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圆角矩形 10"/>
          <p:cNvSpPr>
            <a:spLocks noGrp="1"/>
          </p:cNvSpPr>
          <p:nvPr/>
        </p:nvSpPr>
        <p:spPr>
          <a:xfrm>
            <a:off x="3714750" y="1743075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7652A8"/>
          </a:solidFill>
          <a:ln w="0">
            <a:solidFill>
              <a:srgbClr val="7652A8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Presence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048250" y="17430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 i="0">
                <a:solidFill>
                  <a:srgbClr val="7652A8"/>
                </a:solidFill>
              </a:defRPr>
            </a:pPr>
            <a:r>
              <a:rPr sz="1575" b="1" i="0">
                <a:solidFill>
                  <a:srgbClr val="7652A8"/>
                </a:solidFill>
              </a:rPr>
              <a:t>roads / roadway</a:t>
            </a:r>
            <a:endParaRPr sz="1575" b="1" i="0">
              <a:solidFill>
                <a:srgbClr val="7652A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216217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判断概念是否在图像中成立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524250" y="3000375"/>
            <a:ext cx="7429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4288">
            <a:solidFill>
              <a:srgbClr val="078C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圆角矩形 14"/>
          <p:cNvSpPr>
            <a:spLocks noGrp="1"/>
          </p:cNvSpPr>
          <p:nvPr/>
        </p:nvSpPr>
        <p:spPr>
          <a:xfrm>
            <a:off x="3714750" y="3171825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Semantic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048250" y="317182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 i="0">
                <a:solidFill>
                  <a:srgbClr val="078C8A"/>
                </a:solidFill>
              </a:defRPr>
            </a:pPr>
            <a:r>
              <a:rPr sz="1575" b="1" i="0">
                <a:solidFill>
                  <a:srgbClr val="078C8A"/>
                </a:solidFill>
              </a:rPr>
              <a:t>continuous paved road surface</a:t>
            </a:r>
            <a:endParaRPr sz="1575" b="1" i="0">
              <a:solidFill>
                <a:srgbClr val="078C8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48250" y="359092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补充连续、密集、表面覆盖信息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524250" y="4429125"/>
            <a:ext cx="7429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4288">
            <a:solidFill>
              <a:srgbClr val="E7781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圆角矩形 18"/>
          <p:cNvSpPr>
            <a:spLocks noGrp="1"/>
          </p:cNvSpPr>
          <p:nvPr/>
        </p:nvSpPr>
        <p:spPr>
          <a:xfrm>
            <a:off x="3714750" y="4600575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E77817"/>
          </a:solidFill>
          <a:ln w="0">
            <a:solidFill>
              <a:srgbClr val="E77817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Instance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48250" y="4600575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 i="0">
                <a:solidFill>
                  <a:srgbClr val="E77817"/>
                </a:solidFill>
              </a:defRPr>
            </a:pPr>
            <a:r>
              <a:rPr sz="1575" b="1" i="0">
                <a:solidFill>
                  <a:srgbClr val="E77817"/>
                </a:solidFill>
              </a:rPr>
              <a:t>connected road region</a:t>
            </a:r>
            <a:endParaRPr sz="1575" b="1" i="0">
              <a:solidFill>
                <a:srgbClr val="E7781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0" y="501967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补充区域连通与 query 组织信息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524250" y="58293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同类候选并非“更长越好”：文本的价值由最终分割功能决定。</a:t>
            </a:r>
            <a:endParaRPr sz="1575" b="1" i="0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矩形 44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RESEARCH EVOLUTION · TEXT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试错一：Prompt 扩展有效，但“全头共享”和“整体替换”都不安全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07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4001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52606D"/>
                </a:solidFill>
              </a:defRPr>
            </a:pPr>
            <a:r>
              <a:rPr sz="1275" b="1" i="0">
                <a:solidFill>
                  <a:srgbClr val="52606D"/>
                </a:solidFill>
              </a:rPr>
              <a:t>36 组 dataset × prompt 路径的结构筛查</a:t>
            </a:r>
            <a:endParaRPr sz="1275" b="1" i="0">
              <a:solidFill>
                <a:srgbClr val="52606D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66750" y="1952625"/>
            <a:ext cx="271462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E45A4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114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E45A45"/>
                </a:solidFill>
              </a:defRPr>
            </a:pPr>
            <a:r>
              <a:rPr sz="1350" b="1" i="0">
                <a:solidFill>
                  <a:srgbClr val="E45A45"/>
                </a:solidFill>
              </a:rPr>
              <a:t>01</a:t>
            </a:r>
            <a:endParaRPr sz="1350" b="1" i="0">
              <a:solidFill>
                <a:srgbClr val="E45A4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5336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Shared full grounding</a:t>
            </a:r>
            <a:endParaRPr sz="1425" b="1" i="0">
              <a:solidFill>
                <a:srgbClr val="102A4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9813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E45A45"/>
                </a:solidFill>
              </a:defRPr>
            </a:pPr>
            <a:r>
              <a:rPr sz="1350" b="1" i="0">
                <a:solidFill>
                  <a:srgbClr val="E45A45"/>
                </a:solidFill>
              </a:rPr>
              <a:t>0 / 36 正向</a:t>
            </a:r>
            <a:endParaRPr sz="1350" b="1" i="0">
              <a:solidFill>
                <a:srgbClr val="E45A45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276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325" b="1" i="0">
                <a:solidFill>
                  <a:srgbClr val="E45A45"/>
                </a:solidFill>
              </a:defRPr>
            </a:pPr>
            <a:r>
              <a:rPr sz="2325" b="1" i="0">
                <a:solidFill>
                  <a:srgbClr val="E45A45"/>
                </a:solidFill>
              </a:rPr>
              <a:t>−21.15</a:t>
            </a:r>
            <a:endParaRPr sz="2325" b="1" i="0">
              <a:solidFill>
                <a:srgbClr val="E45A4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695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 i="0">
                <a:solidFill>
                  <a:srgbClr val="7B8794"/>
                </a:solidFill>
              </a:defRPr>
            </a:pPr>
            <a:r>
              <a:rPr sz="900" b="0" i="0">
                <a:solidFill>
                  <a:srgbClr val="7B8794"/>
                </a:solidFill>
              </a:rPr>
              <a:t>mean ΔmIoU</a:t>
            </a:r>
            <a:endParaRPr sz="900" b="0" i="0">
              <a:solidFill>
                <a:srgbClr val="7B879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9052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同一描述同时改变 P / S / I，</a:t>
            </a:r>
            <a:endParaRPr sz="1125" b="0" i="0">
              <a:solidFill>
                <a:srgbClr val="52606D"/>
              </a:solidFill>
            </a:endParaRPr>
          </a:p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角色冲突被放大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09950" y="2876550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025" b="1" i="0">
                <a:solidFill>
                  <a:srgbClr val="7B8794"/>
                </a:solidFill>
              </a:defRPr>
            </a:pPr>
            <a:r>
              <a:rPr sz="2025" b="1" i="0">
                <a:solidFill>
                  <a:srgbClr val="7B8794"/>
                </a:solidFill>
              </a:rPr>
              <a:t>→</a:t>
            </a:r>
            <a:endParaRPr sz="2025" b="1" i="0">
              <a:solidFill>
                <a:srgbClr val="7B8794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762375" y="1952625"/>
            <a:ext cx="271462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CF9A1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3933825" y="2114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CF9A19"/>
                </a:solidFill>
              </a:defRPr>
            </a:pPr>
            <a:r>
              <a:rPr sz="1350" b="1" i="0">
                <a:solidFill>
                  <a:srgbClr val="CF9A19"/>
                </a:solidFill>
              </a:rPr>
              <a:t>02</a:t>
            </a:r>
            <a:endParaRPr sz="1350" b="1" i="0">
              <a:solidFill>
                <a:srgbClr val="CF9A1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933825" y="25336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Semantic replacement</a:t>
            </a:r>
            <a:endParaRPr sz="1425" b="1" i="0">
              <a:solidFill>
                <a:srgbClr val="102A4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933825" y="29813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CF9A19"/>
                </a:solidFill>
              </a:defRPr>
            </a:pPr>
            <a:r>
              <a:rPr sz="1350" b="1" i="0">
                <a:solidFill>
                  <a:srgbClr val="CF9A19"/>
                </a:solidFill>
              </a:rPr>
              <a:t>3 / 36 正向</a:t>
            </a:r>
            <a:endParaRPr sz="1350" b="1" i="0">
              <a:solidFill>
                <a:srgbClr val="CF9A1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33825" y="3276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325" b="1" i="0">
                <a:solidFill>
                  <a:srgbClr val="CF9A19"/>
                </a:solidFill>
              </a:defRPr>
            </a:pPr>
            <a:r>
              <a:rPr sz="2325" b="1" i="0">
                <a:solidFill>
                  <a:srgbClr val="CF9A19"/>
                </a:solidFill>
              </a:rPr>
              <a:t>−6.36</a:t>
            </a:r>
            <a:endParaRPr sz="2325" b="1" i="0">
              <a:solidFill>
                <a:srgbClr val="CF9A1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33825" y="3695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 i="0">
                <a:solidFill>
                  <a:srgbClr val="7B8794"/>
                </a:solidFill>
              </a:defRPr>
            </a:pPr>
            <a:r>
              <a:rPr sz="900" b="0" i="0">
                <a:solidFill>
                  <a:srgbClr val="7B8794"/>
                </a:solidFill>
              </a:rPr>
              <a:t>mean ΔmIoU</a:t>
            </a:r>
            <a:endParaRPr sz="900" b="0" i="0">
              <a:solidFill>
                <a:srgbClr val="7B879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35730" y="39052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只保留 candidate semantic，</a:t>
            </a:r>
            <a:endParaRPr sz="1125" b="0" i="0">
              <a:solidFill>
                <a:srgbClr val="52606D"/>
              </a:solidFill>
            </a:endParaRPr>
          </a:p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仍会抹掉稳定类别基座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05575" y="2876550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025" b="1" i="0">
                <a:solidFill>
                  <a:srgbClr val="7B8794"/>
                </a:solidFill>
              </a:defRPr>
            </a:pPr>
            <a:r>
              <a:rPr sz="2025" b="1" i="0">
                <a:solidFill>
                  <a:srgbClr val="7B8794"/>
                </a:solidFill>
              </a:rPr>
              <a:t>→</a:t>
            </a:r>
            <a:endParaRPr sz="2025" b="1" i="0">
              <a:solidFill>
                <a:srgbClr val="7B8794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858000" y="1952625"/>
            <a:ext cx="2714625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078C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7029450" y="21145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078C8A"/>
                </a:solidFill>
              </a:defRPr>
            </a:pPr>
            <a:r>
              <a:rPr sz="1350" b="1" i="0">
                <a:solidFill>
                  <a:srgbClr val="078C8A"/>
                </a:solidFill>
              </a:rPr>
              <a:t>03</a:t>
            </a:r>
            <a:endParaRPr sz="1350" b="1" i="0">
              <a:solidFill>
                <a:srgbClr val="078C8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29450" y="25336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Anchor-preserving residual</a:t>
            </a:r>
            <a:endParaRPr sz="1425" b="1" i="0">
              <a:solidFill>
                <a:srgbClr val="102A4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29450" y="29813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078C8A"/>
                </a:solidFill>
              </a:defRPr>
            </a:pPr>
            <a:r>
              <a:rPr sz="1350" b="1" i="0">
                <a:solidFill>
                  <a:srgbClr val="078C8A"/>
                </a:solidFill>
              </a:rPr>
              <a:t>13 / 36 正向</a:t>
            </a:r>
            <a:endParaRPr sz="1350" b="1" i="0">
              <a:solidFill>
                <a:srgbClr val="078C8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029450" y="32766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325" b="1" i="0">
                <a:solidFill>
                  <a:srgbClr val="078C8A"/>
                </a:solidFill>
              </a:defRPr>
            </a:pPr>
            <a:r>
              <a:rPr sz="2325" b="1" i="0">
                <a:solidFill>
                  <a:srgbClr val="078C8A"/>
                </a:solidFill>
              </a:rPr>
              <a:t>−0.50</a:t>
            </a:r>
            <a:endParaRPr sz="2325" b="1" i="0">
              <a:solidFill>
                <a:srgbClr val="078C8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29450" y="3695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 i="0">
                <a:solidFill>
                  <a:srgbClr val="7B8794"/>
                </a:solidFill>
              </a:defRPr>
            </a:pPr>
            <a:r>
              <a:rPr sz="900" b="0" i="0">
                <a:solidFill>
                  <a:srgbClr val="7B8794"/>
                </a:solidFill>
              </a:rPr>
              <a:t>mean ΔmIoU</a:t>
            </a:r>
            <a:endParaRPr sz="900" b="0" i="0">
              <a:solidFill>
                <a:srgbClr val="7B879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48500" y="3905250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保留 anchor；bounded ΔS 在 36 / 36 对照中优于 replacement。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810750" y="1952625"/>
            <a:ext cx="1714500" cy="2381250"/>
          </a:xfrm>
          <a:prstGeom prst="roundRect">
            <a:avLst>
              <a:gd name="adj" fmla="val 4444"/>
            </a:avLst>
          </a:prstGeom>
          <a:solidFill>
            <a:srgbClr val="F5EFFB"/>
          </a:solidFill>
          <a:ln w="15240">
            <a:solidFill>
              <a:srgbClr val="7652A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953625" y="2171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 i="0">
                <a:solidFill>
                  <a:srgbClr val="7652A8"/>
                </a:solidFill>
              </a:defRPr>
            </a:pPr>
            <a:r>
              <a:rPr sz="1125" b="1" i="0">
                <a:solidFill>
                  <a:srgbClr val="7652A8"/>
                </a:solidFill>
              </a:rPr>
              <a:t>OpenEarthMap · S1</a:t>
            </a:r>
            <a:endParaRPr sz="1125" b="1" i="0">
              <a:solidFill>
                <a:srgbClr val="7652A8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953625" y="26479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75" b="1" i="0">
                <a:solidFill>
                  <a:srgbClr val="078C8A"/>
                </a:solidFill>
              </a:defRPr>
            </a:pPr>
            <a:r>
              <a:rPr sz="2175" b="1" i="0">
                <a:solidFill>
                  <a:srgbClr val="078C8A"/>
                </a:solidFill>
              </a:rPr>
              <a:t>+1.88</a:t>
            </a:r>
            <a:endParaRPr sz="2175" b="1" i="0">
              <a:solidFill>
                <a:srgbClr val="078C8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53625" y="30480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 i="0">
                <a:solidFill>
                  <a:srgbClr val="52606D"/>
                </a:solidFill>
              </a:defRPr>
            </a:pPr>
            <a:r>
              <a:rPr sz="975" b="0" i="0">
                <a:solidFill>
                  <a:srgbClr val="52606D"/>
                </a:solidFill>
              </a:rPr>
              <a:t>Semantic-only</a:t>
            </a:r>
            <a:endParaRPr sz="975" b="0" i="0">
              <a:solidFill>
                <a:srgbClr val="52606D"/>
              </a:solidFill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0048875" y="3352800"/>
            <a:ext cx="12382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53625" y="35242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75" b="1" i="0">
                <a:solidFill>
                  <a:srgbClr val="E45A45"/>
                </a:solidFill>
              </a:defRPr>
            </a:pPr>
            <a:r>
              <a:rPr sz="2175" b="1" i="0">
                <a:solidFill>
                  <a:srgbClr val="E45A45"/>
                </a:solidFill>
              </a:rPr>
              <a:t>−1.09</a:t>
            </a:r>
            <a:endParaRPr sz="2175" b="1" i="0">
              <a:solidFill>
                <a:srgbClr val="E45A45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53625" y="39243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 i="0">
                <a:solidFill>
                  <a:srgbClr val="52606D"/>
                </a:solidFill>
              </a:defRPr>
            </a:pPr>
            <a:r>
              <a:rPr sz="975" b="0" i="0">
                <a:solidFill>
                  <a:srgbClr val="52606D"/>
                </a:solidFill>
              </a:rPr>
              <a:t>same text shared</a:t>
            </a:r>
            <a:endParaRPr sz="975" b="0" i="0">
              <a:solidFill>
                <a:srgbClr val="52606D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66750" y="4810125"/>
            <a:ext cx="10858500" cy="1066800"/>
          </a:xfrm>
          <a:prstGeom prst="roundRect">
            <a:avLst>
              <a:gd name="adj" fmla="val 7143"/>
            </a:avLst>
          </a:prstGeom>
          <a:solidFill>
            <a:srgbClr val="EEF5FF"/>
          </a:solidFill>
          <a:ln w="9525">
            <a:solidFill>
              <a:srgbClr val="356AE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4875" y="5029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由此形成当前结构</a:t>
            </a:r>
            <a:endParaRPr sz="1425" b="1" i="0">
              <a:solidFill>
                <a:srgbClr val="102A4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711450" y="5029200"/>
            <a:ext cx="28581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356AE6"/>
                </a:solidFill>
              </a:defRPr>
            </a:pPr>
            <a:r>
              <a:rPr sz="1350" b="1" i="0">
                <a:solidFill>
                  <a:srgbClr val="356AE6"/>
                </a:solidFill>
              </a:rPr>
              <a:t>Ontology anchor 保留共享概念边界</a:t>
            </a:r>
            <a:endParaRPr sz="1350" b="1" i="0">
              <a:solidFill>
                <a:srgbClr val="356AE6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581650" y="49911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725" b="1" i="0">
                <a:solidFill>
                  <a:srgbClr val="7B8794"/>
                </a:solidFill>
              </a:defRPr>
            </a:pPr>
            <a:r>
              <a:rPr sz="1725" b="1" i="0">
                <a:solidFill>
                  <a:srgbClr val="7B8794"/>
                </a:solidFill>
              </a:rPr>
              <a:t>+</a:t>
            </a:r>
            <a:endParaRPr sz="1725" b="1" i="0">
              <a:solidFill>
                <a:srgbClr val="7B8794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664200" y="5029200"/>
            <a:ext cx="2714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7652A8"/>
                </a:solidFill>
              </a:defRPr>
            </a:pPr>
            <a:r>
              <a:rPr sz="1350" b="1" i="0">
                <a:solidFill>
                  <a:srgbClr val="7652A8"/>
                </a:solidFill>
              </a:rPr>
              <a:t>不同 role 接收不同功能信息</a:t>
            </a:r>
            <a:endParaRPr sz="1350" b="1" i="0">
              <a:solidFill>
                <a:srgbClr val="7652A8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84515" y="49911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725" b="1" i="0">
                <a:solidFill>
                  <a:srgbClr val="7B8794"/>
                </a:solidFill>
              </a:defRPr>
            </a:pPr>
            <a:r>
              <a:rPr sz="1725" b="1" i="0">
                <a:solidFill>
                  <a:srgbClr val="7B8794"/>
                </a:solidFill>
              </a:rPr>
              <a:t>→</a:t>
            </a:r>
            <a:endParaRPr sz="1725" b="1" i="0">
              <a:solidFill>
                <a:srgbClr val="7B8794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27415" y="5029200"/>
            <a:ext cx="2837180" cy="3009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 i="0">
                <a:solidFill>
                  <a:srgbClr val="E77817"/>
                </a:solidFill>
              </a:defRPr>
            </a:pPr>
            <a:r>
              <a:rPr sz="1350" b="1" i="0">
                <a:solidFill>
                  <a:srgbClr val="E77817"/>
                </a:solidFill>
              </a:rPr>
              <a:t>Role-only：8 / 8 ↑ · macro </a:t>
            </a:r>
            <a:r>
              <a:rPr sz="1350" b="1" i="0">
                <a:solidFill>
                  <a:srgbClr val="E77817"/>
                </a:solidFill>
              </a:rPr>
              <a:t>+2.25</a:t>
            </a:r>
            <a:endParaRPr sz="1350" b="1" i="0">
              <a:solidFill>
                <a:srgbClr val="E77817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04875" y="5486400"/>
            <a:ext cx="990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结论不是“长文本更好”，而是：补充信息必须按计算职责进入，并受 anchor 约束。</a:t>
            </a:r>
            <a:endParaRPr sz="1275" b="0" i="0">
              <a:solidFill>
                <a:srgbClr val="52606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OBSERVATION 2 · VIEW HETEROGENEITY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问题二：同一角色也可能需要不同空间范围的视觉证据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08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590550" y="1476375"/>
            <a:ext cx="4762500" cy="404812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4288">
            <a:solidFill>
              <a:srgbClr val="1AA6B7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695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 i="0">
                <a:solidFill>
                  <a:srgbClr val="1AA6B7"/>
                </a:solidFill>
              </a:defRPr>
            </a:pPr>
            <a:r>
              <a:rPr sz="1650" b="1" i="0">
                <a:solidFill>
                  <a:srgbClr val="1AA6B7"/>
                </a:solidFill>
              </a:rPr>
              <a:t>Local / Native</a:t>
            </a:r>
            <a:endParaRPr sz="1650" b="1" i="0">
              <a:solidFill>
                <a:srgbClr val="1AA6B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0288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高分辨率、小视野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44767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更适合：边界、车辆、建筑细节</a:t>
            </a:r>
            <a:endParaRPr sz="1350" b="1" i="0">
              <a:solidFill>
                <a:srgbClr val="102A4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48768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保留像素级局部结构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867400" y="1476375"/>
            <a:ext cx="4762500" cy="404812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4288">
            <a:solidFill>
              <a:srgbClr val="356A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1695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 i="0">
                <a:solidFill>
                  <a:srgbClr val="356AE6"/>
                </a:solidFill>
              </a:defRPr>
            </a:pPr>
            <a:r>
              <a:rPr sz="1650" b="1" i="0">
                <a:solidFill>
                  <a:srgbClr val="356AE6"/>
                </a:solidFill>
              </a:rPr>
              <a:t>Context / Large-FoV</a:t>
            </a:r>
            <a:endParaRPr sz="1650" b="1" i="0">
              <a:solidFill>
                <a:srgbClr val="356AE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0" y="20288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低分辨率、大范围布局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0" y="44767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更适合：道路连续性、农田与场景结构</a:t>
            </a:r>
            <a:endParaRPr sz="1350" b="1" i="0">
              <a:solidFill>
                <a:srgbClr val="102A4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0" y="4876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补充单一 crop 看不到的上下文</a:t>
            </a:r>
            <a:endParaRPr sz="1200" b="0" i="0">
              <a:solidFill>
                <a:srgbClr val="52606D"/>
              </a:solidFill>
            </a:endParaRPr>
          </a:p>
        </p:txBody>
      </p:sp>
      <p:pic>
        <p:nvPicPr>
          <p:cNvPr id="36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37" y="2419350"/>
            <a:ext cx="4098727" cy="1619250"/>
          </a:xfrm>
          <a:prstGeom prst="rect">
            <a:avLst/>
          </a:prstGeom>
        </p:spPr>
      </p:pic>
      <p:pic>
        <p:nvPicPr>
          <p:cNvPr id="37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2454085"/>
            <a:ext cx="4267200" cy="1549779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590550" y="5857875"/>
            <a:ext cx="10039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 i="0">
                <a:solidFill>
                  <a:srgbClr val="078C8A"/>
                </a:solidFill>
              </a:defRPr>
            </a:pPr>
            <a:r>
              <a:rPr sz="1650" b="1" i="0">
                <a:solidFill>
                  <a:srgbClr val="078C8A"/>
                </a:solidFill>
              </a:rPr>
              <a:t>关键不是“global 一定更好”，而是对齐视野中的证据具有互补性。</a:t>
            </a:r>
            <a:endParaRPr sz="1650" b="1" i="0">
              <a:solidFill>
                <a:srgbClr val="078C8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RESEARCH EVOLUTION · VIEW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试错二：Context 确有互补信息，但固定融合无法稳定利用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09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1809750"/>
            <a:ext cx="2857500" cy="30289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356AE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20097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Information exists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5622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Shared Canvas</a:t>
            </a:r>
            <a:endParaRPr sz="1575" b="1" i="0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0861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75" b="1" i="0">
                <a:solidFill>
                  <a:srgbClr val="356AE6"/>
                </a:solidFill>
              </a:defRPr>
            </a:pPr>
            <a:r>
              <a:rPr sz="2175" b="1" i="0">
                <a:solidFill>
                  <a:srgbClr val="356AE6"/>
                </a:solidFill>
              </a:rPr>
              <a:t>+0.92 macro</a:t>
            </a:r>
            <a:endParaRPr sz="2175" b="1" i="0">
              <a:solidFill>
                <a:srgbClr val="356AE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35433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 i="0">
                <a:solidFill>
                  <a:srgbClr val="52606D"/>
                </a:solidFill>
              </a:defRPr>
            </a:pPr>
            <a:r>
              <a:rPr sz="1125" b="1" i="0">
                <a:solidFill>
                  <a:srgbClr val="52606D"/>
                </a:solidFill>
              </a:rPr>
              <a:t>4 / 6 vs matched Fine-only</a:t>
            </a:r>
            <a:endParaRPr sz="1125" b="1" i="0">
              <a:solidFill>
                <a:srgbClr val="52606D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990600" y="3933825"/>
            <a:ext cx="22098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04875" y="416242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Context 提供了真实新信息，</a:t>
            </a:r>
            <a:endParaRPr sz="1125" b="0" i="0">
              <a:solidFill>
                <a:srgbClr val="52606D"/>
              </a:solidFill>
            </a:endParaRPr>
          </a:p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但改变 token allocation / resolution。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52825" y="302895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00" b="1" i="0">
                <a:solidFill>
                  <a:srgbClr val="7B8794"/>
                </a:solidFill>
              </a:defRPr>
            </a:pPr>
            <a:r>
              <a:rPr sz="2100" b="1" i="0">
                <a:solidFill>
                  <a:srgbClr val="7B8794"/>
                </a:solidFill>
              </a:rPr>
              <a:t>→</a:t>
            </a:r>
            <a:endParaRPr sz="2100" b="1" i="0">
              <a:solidFill>
                <a:srgbClr val="7B8794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971925" y="1809750"/>
            <a:ext cx="2857500" cy="30289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E45A4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圆角矩形 13"/>
          <p:cNvSpPr>
            <a:spLocks noGrp="1"/>
          </p:cNvSpPr>
          <p:nvPr/>
        </p:nvSpPr>
        <p:spPr>
          <a:xfrm>
            <a:off x="4162425" y="20097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E45A45"/>
          </a:solidFill>
          <a:ln w="0">
            <a:solidFill>
              <a:srgbClr val="E45A45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Interface fails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162425" y="25622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Fixed fusion families</a:t>
            </a:r>
            <a:endParaRPr sz="1575" b="1" i="0">
              <a:solidFill>
                <a:srgbClr val="102A4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62425" y="30861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75" b="1" i="0">
                <a:solidFill>
                  <a:srgbClr val="E45A45"/>
                </a:solidFill>
              </a:defRPr>
            </a:pPr>
            <a:r>
              <a:rPr sz="2175" b="1" i="0">
                <a:solidFill>
                  <a:srgbClr val="E45A45"/>
                </a:solidFill>
              </a:rPr>
              <a:t>+0.10 macro</a:t>
            </a:r>
            <a:endParaRPr sz="2175" b="1" i="0">
              <a:solidFill>
                <a:srgbClr val="E45A4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62425" y="35433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 i="0">
                <a:solidFill>
                  <a:srgbClr val="52606D"/>
                </a:solidFill>
              </a:defRPr>
            </a:pPr>
            <a:r>
              <a:rPr sz="1125" b="1" i="0">
                <a:solidFill>
                  <a:srgbClr val="52606D"/>
                </a:solidFill>
              </a:rPr>
              <a:t>R1–R14 best · 3 / 6</a:t>
            </a:r>
            <a:endParaRPr sz="1125" b="1" i="0">
              <a:solidFill>
                <a:srgbClr val="52606D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295775" y="3933825"/>
            <a:ext cx="22098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210050" y="416242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Residual、surround、low-frequency、</a:t>
            </a:r>
            <a:endParaRPr sz="1125" b="0" i="0">
              <a:solidFill>
                <a:srgbClr val="52606D"/>
              </a:solidFill>
            </a:endParaRPr>
          </a:p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Q/K/V 与 agreement 均未形成通用规则。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0" y="302895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00" b="1" i="0">
                <a:solidFill>
                  <a:srgbClr val="7B8794"/>
                </a:solidFill>
              </a:defRPr>
            </a:pPr>
            <a:r>
              <a:rPr sz="2100" b="1" i="0">
                <a:solidFill>
                  <a:srgbClr val="7B8794"/>
                </a:solidFill>
              </a:rPr>
              <a:t>→</a:t>
            </a:r>
            <a:endParaRPr sz="2100" b="1" i="0">
              <a:solidFill>
                <a:srgbClr val="7B8794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77100" y="1809750"/>
            <a:ext cx="2857500" cy="30289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78C8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圆角矩形 21"/>
          <p:cNvSpPr>
            <a:spLocks noGrp="1"/>
          </p:cNvSpPr>
          <p:nvPr/>
        </p:nvSpPr>
        <p:spPr>
          <a:xfrm>
            <a:off x="7467600" y="2009775"/>
            <a:ext cx="1428750" cy="266700"/>
          </a:xfrm>
          <a:prstGeom prst="roundRect">
            <a:avLst>
              <a:gd name="adj" fmla="val 50000"/>
            </a:avLst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Conditional use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67600" y="25622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Joint Role × View</a:t>
            </a:r>
            <a:endParaRPr sz="1575" b="1" i="0">
              <a:solidFill>
                <a:srgbClr val="102A4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67600" y="30861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175" b="1" i="0">
                <a:solidFill>
                  <a:srgbClr val="078C8A"/>
                </a:solidFill>
              </a:defRPr>
            </a:pPr>
            <a:r>
              <a:rPr sz="2175" b="1" i="0">
                <a:solidFill>
                  <a:srgbClr val="078C8A"/>
                </a:solidFill>
              </a:rPr>
              <a:t>+1.67</a:t>
            </a:r>
            <a:r>
              <a:rPr sz="2175" b="1" i="0">
                <a:solidFill>
                  <a:srgbClr val="078C8A"/>
                </a:solidFill>
              </a:rPr>
              <a:t> macro</a:t>
            </a:r>
            <a:endParaRPr sz="2175" b="1" i="0">
              <a:solidFill>
                <a:srgbClr val="078C8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467600" y="35433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 i="0">
                <a:solidFill>
                  <a:srgbClr val="52606D"/>
                </a:solidFill>
              </a:defRPr>
            </a:pPr>
            <a:r>
              <a:rPr sz="1125" b="1" i="0">
                <a:solidFill>
                  <a:srgbClr val="52606D"/>
                </a:solidFill>
              </a:rPr>
              <a:t>8 / 8 over Role-only</a:t>
            </a:r>
            <a:endParaRPr sz="1125" b="1" i="0">
              <a:solidFill>
                <a:srgbClr val="52606D"/>
              </a:solidFill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7600950" y="3933825"/>
            <a:ext cx="22098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515225" y="4077335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endParaRPr sz="1125" b="0" i="0">
              <a:solidFill>
                <a:srgbClr val="52606D"/>
              </a:solidFill>
            </a:endParaRPr>
          </a:p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联合 role information 与 visual field</a:t>
            </a:r>
            <a:r>
              <a:rPr sz="1125" b="0" i="0">
                <a:solidFill>
                  <a:srgbClr val="52606D"/>
                </a:solidFill>
              </a:rPr>
              <a:t>。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0572750" y="1809750"/>
            <a:ext cx="952500" cy="302895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9525">
            <a:solidFill>
              <a:srgbClr val="E7781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668000" y="2238375"/>
            <a:ext cx="76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025" b="1" i="0">
                <a:solidFill>
                  <a:srgbClr val="E77817"/>
                </a:solidFill>
              </a:defRPr>
            </a:pPr>
            <a:r>
              <a:rPr sz="2025" b="1" i="0">
                <a:solidFill>
                  <a:srgbClr val="E77817"/>
                </a:solidFill>
              </a:rPr>
              <a:t>6 / 8</a:t>
            </a:r>
            <a:endParaRPr sz="2025" b="1" i="0">
              <a:solidFill>
                <a:srgbClr val="E7781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2733675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 i="0">
                <a:solidFill>
                  <a:srgbClr val="52606D"/>
                </a:solidFill>
              </a:defRPr>
            </a:pPr>
            <a:r>
              <a:rPr sz="975" b="1" i="0">
                <a:solidFill>
                  <a:srgbClr val="52606D"/>
                </a:solidFill>
              </a:rPr>
              <a:t>positive</a:t>
            </a:r>
            <a:endParaRPr sz="975" b="1" i="0">
              <a:solidFill>
                <a:srgbClr val="52606D"/>
              </a:solidFill>
            </a:endParaRPr>
          </a:p>
          <a:p>
            <a:pPr algn="ctr">
              <a:buNone/>
              <a:defRPr sz="975" b="1" i="0">
                <a:solidFill>
                  <a:srgbClr val="52606D"/>
                </a:solidFill>
              </a:defRPr>
            </a:pPr>
            <a:r>
              <a:rPr sz="975" b="1" i="0">
                <a:solidFill>
                  <a:srgbClr val="52606D"/>
                </a:solidFill>
              </a:rPr>
              <a:t>Role × View</a:t>
            </a:r>
            <a:endParaRPr sz="975" b="1" i="0">
              <a:solidFill>
                <a:srgbClr val="52606D"/>
              </a:solidFill>
            </a:endParaRPr>
          </a:p>
          <a:p>
            <a:pPr algn="ctr">
              <a:buNone/>
              <a:defRPr sz="975" b="1" i="0">
                <a:solidFill>
                  <a:srgbClr val="52606D"/>
                </a:solidFill>
              </a:defRPr>
            </a:pPr>
            <a:r>
              <a:rPr sz="975" b="1" i="0">
                <a:solidFill>
                  <a:srgbClr val="52606D"/>
                </a:solidFill>
              </a:rPr>
              <a:t>interaction</a:t>
            </a:r>
            <a:endParaRPr sz="975" b="1" i="0">
              <a:solidFill>
                <a:srgbClr val="52606D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668000" y="3676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725" b="1" i="0">
                <a:solidFill>
                  <a:srgbClr val="356AE6"/>
                </a:solidFill>
              </a:defRPr>
            </a:pPr>
            <a:r>
              <a:rPr sz="1725" b="1" i="0">
                <a:solidFill>
                  <a:srgbClr val="356AE6"/>
                </a:solidFill>
              </a:rPr>
              <a:t>+0.63</a:t>
            </a:r>
            <a:endParaRPr sz="1725" b="1" i="0">
              <a:solidFill>
                <a:srgbClr val="356AE6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668000" y="404812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 i="0">
                <a:solidFill>
                  <a:srgbClr val="52606D"/>
                </a:solidFill>
              </a:defRPr>
            </a:pPr>
            <a:r>
              <a:rPr sz="900" b="0" i="0">
                <a:solidFill>
                  <a:srgbClr val="52606D"/>
                </a:solidFill>
              </a:rPr>
              <a:t>macro</a:t>
            </a:r>
            <a:endParaRPr sz="900" b="0" i="0">
              <a:solidFill>
                <a:srgbClr val="52606D"/>
              </a:solidFill>
            </a:endParaRPr>
          </a:p>
          <a:p>
            <a:pPr algn="ctr">
              <a:buNone/>
              <a:defRPr sz="900" b="0" i="0">
                <a:solidFill>
                  <a:srgbClr val="52606D"/>
                </a:solidFill>
              </a:defRPr>
            </a:pPr>
            <a:r>
              <a:rPr sz="900" b="0" i="0">
                <a:solidFill>
                  <a:srgbClr val="52606D"/>
                </a:solidFill>
              </a:rPr>
              <a:t>interaction</a:t>
            </a:r>
            <a:endParaRPr sz="900" b="0" i="0">
              <a:solidFill>
                <a:srgbClr val="52606D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66750" y="5095875"/>
            <a:ext cx="10858500" cy="1066800"/>
          </a:xfrm>
          <a:prstGeom prst="roundRect">
            <a:avLst>
              <a:gd name="adj" fmla="val 10714"/>
            </a:avLst>
          </a:prstGeom>
          <a:solidFill>
            <a:srgbClr val="F5F8FB"/>
          </a:solidFill>
          <a:ln w="14288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19150" y="5162550"/>
            <a:ext cx="35604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Selected-profile Role × View interaction ΔmIoU</a:t>
            </a:r>
            <a:endParaRPr sz="1125" b="1">
              <a:solidFill>
                <a:srgbClr val="102A43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1915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535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LoveDA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9535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+0.66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17170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24790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OEM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24790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+1.68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352425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60045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Potsdam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60045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+0.11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487680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C94A4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95300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UDD5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95300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94A4A"/>
                </a:solidFill>
              </a:defRPr>
            </a:pPr>
            <a:r>
              <a:rPr sz="1275" b="1">
                <a:solidFill>
                  <a:srgbClr val="C94A4A"/>
                </a:solidFill>
              </a:rPr>
              <a:t>−0.28</a:t>
            </a:r>
            <a:endParaRPr sz="1275" b="1">
              <a:solidFill>
                <a:srgbClr val="C94A4A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22935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30555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Vaihingen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30555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+2.07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7581900" y="5524500"/>
            <a:ext cx="121920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65810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VDD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65810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+0.53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934450" y="5524500"/>
            <a:ext cx="12192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1F9D73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01065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UAVid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01065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9D73"/>
                </a:solidFill>
              </a:defRPr>
            </a:pPr>
            <a:r>
              <a:rPr sz="1275" b="1">
                <a:solidFill>
                  <a:srgbClr val="1F9D73"/>
                </a:solidFill>
              </a:rPr>
              <a:t>+0.47</a:t>
            </a:r>
            <a:endParaRPr sz="1275" b="1">
              <a:solidFill>
                <a:srgbClr val="1F9D73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10287000" y="5524500"/>
            <a:ext cx="12192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C94A4A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0363200" y="55340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1">
                <a:solidFill>
                  <a:srgbClr val="66788A"/>
                </a:solidFill>
              </a:defRPr>
            </a:pPr>
            <a:r>
              <a:rPr sz="900" b="1">
                <a:solidFill>
                  <a:srgbClr val="66788A"/>
                </a:solidFill>
              </a:rPr>
              <a:t>iSAID</a:t>
            </a:r>
            <a:endParaRPr sz="900" b="1">
              <a:solidFill>
                <a:srgbClr val="66788A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363200" y="5724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6788A"/>
                </a:solidFill>
              </a:defRPr>
            </a:pPr>
            <a:r>
              <a:rPr sz="1275" b="1">
                <a:solidFill>
                  <a:srgbClr val="C94A4A"/>
                </a:solidFill>
              </a:rPr>
              <a:t>−0.23</a:t>
            </a:r>
            <a:endParaRPr sz="1275" b="1">
              <a:solidFill>
                <a:srgbClr val="66788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EXECUTIVE TAKEAWAY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一句话：共享概念不等于共享信息需求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10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42875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SAM3 用一个 concept 同时驱动三种输出，但三种输出承担的是不同计算职责。</a:t>
            </a:r>
            <a:endParaRPr sz="1875" b="1" i="0">
              <a:solidFill>
                <a:srgbClr val="102A4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2383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 i="0">
                <a:solidFill>
                  <a:srgbClr val="7652A8"/>
                </a:solidFill>
              </a:defRPr>
            </a:pPr>
            <a:r>
              <a:rPr sz="2175" b="1" i="0">
                <a:solidFill>
                  <a:srgbClr val="7652A8"/>
                </a:solidFill>
              </a:rPr>
              <a:t>01</a:t>
            </a:r>
            <a:endParaRPr sz="2175" b="1" i="0">
              <a:solidFill>
                <a:srgbClr val="7652A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2574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Role-Functional Text</a:t>
            </a:r>
            <a:endParaRPr sz="1500" b="1" i="0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260985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类别名保留为 ontology anchor；新增文本按 Presence、Semantic、Instance 的职责分别进入。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67200" y="22383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 i="0">
                <a:solidFill>
                  <a:srgbClr val="078C8A"/>
                </a:solidFill>
              </a:defRPr>
            </a:pPr>
            <a:r>
              <a:rPr sz="2175" b="1" i="0">
                <a:solidFill>
                  <a:srgbClr val="078C8A"/>
                </a:solidFill>
              </a:rPr>
              <a:t>02</a:t>
            </a:r>
            <a:endParaRPr sz="2175" b="1" i="0">
              <a:solidFill>
                <a:srgbClr val="078C8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38700" y="22574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Joint View Profile</a:t>
            </a:r>
            <a:endParaRPr sz="1500" b="1" i="0">
              <a:solidFill>
                <a:srgbClr val="102A4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838700" y="260985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Native 保留细节，Context 提供大范围布局；每个视野都走完整、冻结的 SAM3 grounding。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43850" y="22383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 i="0">
                <a:solidFill>
                  <a:srgbClr val="356AE6"/>
                </a:solidFill>
              </a:defRPr>
            </a:pPr>
            <a:r>
              <a:rPr sz="2175" b="1" i="0">
                <a:solidFill>
                  <a:srgbClr val="356AE6"/>
                </a:solidFill>
              </a:rPr>
              <a:t>03</a:t>
            </a:r>
            <a:endParaRPr sz="2175" b="1" i="0">
              <a:solidFill>
                <a:srgbClr val="356AE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15350" y="22574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Joint Role × View</a:t>
            </a:r>
            <a:endParaRPr sz="1500" b="1" i="0">
              <a:solidFill>
                <a:srgbClr val="102A4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15350" y="26098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联合角色文本与视野证据</a:t>
            </a:r>
            <a:r>
              <a:rPr sz="1200" b="0" i="0">
                <a:solidFill>
                  <a:srgbClr val="52606D"/>
                </a:solidFill>
              </a:rPr>
              <a:t>。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90550" y="4095750"/>
            <a:ext cx="11010900" cy="1657350"/>
          </a:xfrm>
          <a:prstGeom prst="roundRect">
            <a:avLst>
              <a:gd name="adj" fmla="val 4598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4429125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850" b="1" i="0">
                <a:solidFill>
                  <a:srgbClr val="7B8794"/>
                </a:solidFill>
              </a:defRPr>
            </a:pPr>
            <a:r>
              <a:rPr sz="2850" b="1" i="0">
                <a:solidFill>
                  <a:srgbClr val="7B8794"/>
                </a:solidFill>
              </a:rPr>
              <a:t>53.56</a:t>
            </a:r>
            <a:endParaRPr sz="2850" b="1" i="0">
              <a:solidFill>
                <a:srgbClr val="7B879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933950"/>
            <a:ext cx="1857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Baseline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209925" y="44577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 i="0">
                <a:solidFill>
                  <a:srgbClr val="7652A8"/>
                </a:solidFill>
              </a:defRPr>
            </a:pPr>
            <a:r>
              <a:rPr sz="2250" b="1" i="0">
                <a:solidFill>
                  <a:srgbClr val="7652A8"/>
                </a:solidFill>
              </a:rPr>
              <a:t>+2.25</a:t>
            </a:r>
            <a:endParaRPr sz="2250" b="1" i="0">
              <a:solidFill>
                <a:srgbClr val="7652A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09925" y="4933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Role Text</a:t>
            </a:r>
            <a:r>
              <a:rPr sz="1125" b="0" i="0">
                <a:solidFill>
                  <a:srgbClr val="52606D"/>
                </a:solidFill>
              </a:rPr>
              <a:t> Only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19700" y="44577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250" b="1" i="0">
                <a:solidFill>
                  <a:srgbClr val="078C8A"/>
                </a:solidFill>
              </a:defRPr>
            </a:pPr>
            <a:r>
              <a:rPr sz="2250" b="1" i="0">
                <a:solidFill>
                  <a:srgbClr val="078C8A"/>
                </a:solidFill>
              </a:rPr>
              <a:t>+1.67</a:t>
            </a:r>
            <a:endParaRPr sz="2250" b="1" i="0">
              <a:solidFill>
                <a:srgbClr val="078C8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9850" y="4933950"/>
            <a:ext cx="2279650" cy="286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Joint Role–View over Role-only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0" y="44005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3150" b="1" i="0">
                <a:solidFill>
                  <a:srgbClr val="E77817"/>
                </a:solidFill>
              </a:defRPr>
            </a:pPr>
            <a:r>
              <a:rPr sz="3150" b="1" i="0">
                <a:solidFill>
                  <a:srgbClr val="E77817"/>
                </a:solidFill>
              </a:rPr>
              <a:t>57.49</a:t>
            </a:r>
            <a:endParaRPr sz="3150" b="1" i="0">
              <a:solidFill>
                <a:srgbClr val="E7781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0" y="4933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Final:</a:t>
            </a:r>
            <a:r>
              <a:rPr sz="1125" b="1" i="0">
                <a:solidFill>
                  <a:srgbClr val="102A43"/>
                </a:solidFill>
              </a:rPr>
              <a:t>Joint Role–View</a:t>
            </a:r>
            <a:endParaRPr sz="1125" b="1" i="0">
              <a:solidFill>
                <a:srgbClr val="102A4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906000" y="4572000"/>
            <a:ext cx="1381125" cy="266700"/>
          </a:xfrm>
          <a:prstGeom prst="roundRect">
            <a:avLst>
              <a:gd name="adj" fmla="val 50000"/>
            </a:avLst>
          </a:prstGeom>
          <a:solidFill>
            <a:srgbClr val="EAF8F7"/>
          </a:solidFill>
          <a:ln w="0">
            <a:solidFill>
              <a:srgbClr val="EAF8F7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16875C"/>
                </a:solidFill>
              </a:defRPr>
            </a:pPr>
            <a:r>
              <a:rPr sz="975" b="1">
                <a:solidFill>
                  <a:srgbClr val="16875C"/>
                </a:solidFill>
              </a:rPr>
              <a:t>8 / 8 datasets ↑</a:t>
            </a:r>
            <a:endParaRPr sz="975" b="1">
              <a:solidFill>
                <a:srgbClr val="16875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11</a:t>
            </a:r>
            <a:endParaRPr sz="900" b="1" i="0">
              <a:solidFill>
                <a:srgbClr val="7B8794"/>
              </a:solidFill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矩形 50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MAIN RESULTS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主结果：Joint Role–View 在 8 个数据集上全部超过 baseline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14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38112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灰色：Official baseline　蓝色：</a:t>
            </a:r>
            <a:r>
              <a:rPr sz="1125" b="0" i="0">
                <a:solidFill>
                  <a:srgbClr val="52606D"/>
                </a:solidFill>
              </a:rPr>
              <a:t>Ours</a:t>
            </a:r>
            <a:r>
              <a:rPr sz="1125" b="0" i="0">
                <a:solidFill>
                  <a:srgbClr val="52606D"/>
                </a:solidFill>
              </a:rPr>
              <a:t>（</a:t>
            </a:r>
            <a:r>
              <a:rPr sz="1125" b="0" i="0">
                <a:solidFill>
                  <a:srgbClr val="52606D"/>
                </a:solidFill>
              </a:rPr>
              <a:t>Joint Role–View</a:t>
            </a:r>
            <a:r>
              <a:rPr sz="1125" b="0" i="0">
                <a:solidFill>
                  <a:srgbClr val="52606D"/>
                </a:solidFill>
              </a:rPr>
              <a:t>）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621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LoveDA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257425" y="1714500"/>
            <a:ext cx="4418952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2257425" y="1885950"/>
            <a:ext cx="4556169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0" y="16764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47.34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334500" y="18764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48.81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134600" y="176212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+1.46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32410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OpenEarthMap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257425" y="2257425"/>
            <a:ext cx="4135184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257425" y="2428875"/>
            <a:ext cx="4954753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0" y="22193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44.30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34500" y="24193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53.08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134600" y="23050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+8.77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289560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Potsdam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257425" y="2800350"/>
            <a:ext cx="5401875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257425" y="2971800"/>
            <a:ext cx="5897537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0" y="27622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57.87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0" y="29622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63.18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134600" y="284797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+5.31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34099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UDD5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257425" y="3343275"/>
            <a:ext cx="6702171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2257425" y="3514725"/>
            <a:ext cx="6808584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0" y="3305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71.80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34500" y="3505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72.94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134600" y="339090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+1.14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39528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Vaihingen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2257425" y="3886200"/>
            <a:ext cx="5680977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2257425" y="4057650"/>
            <a:ext cx="6196241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334500" y="3848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60.86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334500" y="40481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66.38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0134600" y="393382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+5.52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85800" y="44767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VDD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257425" y="4429125"/>
            <a:ext cx="5984348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2257425" y="4600575"/>
            <a:ext cx="6213043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334500" y="43910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64.11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334500" y="45910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66.56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134600" y="44767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+2.45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85800" y="50196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UAVid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56" name="圆角矩形 55"/>
          <p:cNvSpPr>
            <a:spLocks noGrp="1"/>
          </p:cNvSpPr>
          <p:nvPr/>
        </p:nvSpPr>
        <p:spPr>
          <a:xfrm>
            <a:off x="2257425" y="4972050"/>
            <a:ext cx="5095704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57" name="圆角矩形 56"/>
          <p:cNvSpPr>
            <a:spLocks noGrp="1"/>
          </p:cNvSpPr>
          <p:nvPr/>
        </p:nvSpPr>
        <p:spPr>
          <a:xfrm>
            <a:off x="2257425" y="5143500"/>
            <a:ext cx="5583898" cy="171450"/>
          </a:xfrm>
          <a:prstGeom prst="roundRect">
            <a:avLst>
              <a:gd name="adj" fmla="val 50000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9334500" y="49339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54.59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334500" y="51339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59.82</a:t>
            </a:r>
            <a:endParaRPr sz="1125" b="1" i="0">
              <a:solidFill>
                <a:srgbClr val="356AE6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10134600" y="5019675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+5.24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2257425" y="5514975"/>
            <a:ext cx="2576322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63" name="圆角矩形 62"/>
          <p:cNvSpPr>
            <a:spLocks noGrp="1"/>
          </p:cNvSpPr>
          <p:nvPr/>
        </p:nvSpPr>
        <p:spPr>
          <a:xfrm>
            <a:off x="2257425" y="5686425"/>
            <a:ext cx="2641664" cy="171450"/>
          </a:xfrm>
          <a:prstGeom prst="roundRect">
            <a:avLst>
              <a:gd name="adj" fmla="val 44444"/>
            </a:avLst>
          </a:prstGeom>
          <a:solidFill>
            <a:srgbClr val="356AE6"/>
          </a:solidFill>
          <a:ln w="0">
            <a:solidFill>
              <a:srgbClr val="356AE6"/>
            </a:solidFill>
            <a:prstDash val="solid"/>
          </a:ln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10134600" y="5562600"/>
            <a:ext cx="742950" cy="266700"/>
          </a:xfrm>
          <a:prstGeom prst="roundRect">
            <a:avLst>
              <a:gd name="adj" fmla="val 28571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E45A45"/>
                </a:solidFill>
              </a:defRPr>
            </a:pPr>
            <a:r>
              <a:rPr sz="1050" b="1">
                <a:solidFill>
                  <a:srgbClr val="E45A45"/>
                </a:solidFill>
              </a:rPr>
              <a:t>+1.48</a:t>
            </a:r>
            <a:endParaRPr sz="1050" b="1">
              <a:solidFill>
                <a:srgbClr val="E45A45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95325" y="558927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iSAID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36405" y="54578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27.64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336405" y="56483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356AE6"/>
                </a:solidFill>
              </a:defRPr>
            </a:pPr>
            <a:r>
              <a:rPr sz="1125" b="1" i="0">
                <a:solidFill>
                  <a:srgbClr val="356AE6"/>
                </a:solidFill>
              </a:rPr>
              <a:t>29.13</a:t>
            </a:r>
            <a:endParaRPr sz="1125" b="1" i="0">
              <a:solidFill>
                <a:srgbClr val="356AE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AGGREGATE EVIDENCE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Macro 提升可分解为两步：角色文本先建立增益，视野</a:t>
            </a:r>
            <a:r>
              <a:rPr sz="2400" b="1" i="0">
                <a:solidFill>
                  <a:srgbClr val="102A43"/>
                </a:solidFill>
              </a:rPr>
              <a:t>信息</a:t>
            </a:r>
            <a:r>
              <a:rPr sz="2400" b="1" i="0">
                <a:solidFill>
                  <a:srgbClr val="102A43"/>
                </a:solidFill>
              </a:rPr>
              <a:t>继续放大</a:t>
            </a:r>
            <a:r>
              <a:rPr sz="2400" b="1" i="0">
                <a:solidFill>
                  <a:srgbClr val="102A43"/>
                </a:solidFill>
              </a:rPr>
              <a:t>增益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15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95375" y="1857375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925" b="1" i="0">
                <a:solidFill>
                  <a:srgbClr val="7B8794"/>
                </a:solidFill>
              </a:defRPr>
            </a:pPr>
            <a:r>
              <a:rPr sz="2925" b="1" i="0">
                <a:solidFill>
                  <a:srgbClr val="7B8794"/>
                </a:solidFill>
              </a:rPr>
              <a:t>53.56</a:t>
            </a:r>
            <a:endParaRPr sz="2925" b="1" i="0">
              <a:solidFill>
                <a:srgbClr val="7B879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95375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Official baseline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3136869"/>
            <a:ext cx="1428750" cy="1720881"/>
          </a:xfrm>
          <a:prstGeom prst="rect">
            <a:avLst/>
          </a:prstGeom>
          <a:solidFill>
            <a:srgbClr val="CFD8DF"/>
          </a:solidFill>
          <a:ln w="0">
            <a:solidFill>
              <a:srgbClr val="CFD8D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714750" y="23812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325" b="1" i="0">
                <a:solidFill>
                  <a:srgbClr val="7652A8"/>
                </a:solidFill>
              </a:defRPr>
            </a:pPr>
            <a:r>
              <a:rPr sz="2325" b="1" i="0">
                <a:solidFill>
                  <a:srgbClr val="7652A8"/>
                </a:solidFill>
              </a:rPr>
              <a:t>+2.25</a:t>
            </a:r>
            <a:endParaRPr sz="2325" b="1" i="0">
              <a:solidFill>
                <a:srgbClr val="7652A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81375" y="28575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Role-Functional Text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0" y="3629025"/>
            <a:ext cx="1333500" cy="1228725"/>
          </a:xfrm>
          <a:prstGeom prst="rect">
            <a:avLst/>
          </a:prstGeom>
          <a:solidFill>
            <a:srgbClr val="7652A8"/>
          </a:solidFill>
          <a:ln w="0">
            <a:solidFill>
              <a:srgbClr val="7652A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23812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325" b="1" i="0">
                <a:solidFill>
                  <a:srgbClr val="078C8A"/>
                </a:solidFill>
              </a:defRPr>
            </a:pPr>
            <a:r>
              <a:rPr sz="2325" b="1" i="0">
                <a:solidFill>
                  <a:srgbClr val="078C8A"/>
                </a:solidFill>
              </a:rPr>
              <a:t>+1.67</a:t>
            </a:r>
            <a:endParaRPr sz="2325" b="1" i="0">
              <a:solidFill>
                <a:srgbClr val="078C8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53125" y="28575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Joint View Profile</a:t>
            </a:r>
            <a:endParaRPr sz="1200" b="0" i="0">
              <a:solidFill>
                <a:srgbClr val="52606D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3971925"/>
            <a:ext cx="1333500" cy="885825"/>
          </a:xfrm>
          <a:prstGeom prst="rect">
            <a:avLst/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001125" y="1857375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925" b="1" i="0">
                <a:solidFill>
                  <a:srgbClr val="E77817"/>
                </a:solidFill>
              </a:defRPr>
            </a:pPr>
            <a:r>
              <a:rPr sz="2925" b="1" i="0">
                <a:solidFill>
                  <a:srgbClr val="E77817"/>
                </a:solidFill>
              </a:rPr>
              <a:t>57.49</a:t>
            </a:r>
            <a:endParaRPr sz="2925" b="1" i="0">
              <a:solidFill>
                <a:srgbClr val="E7781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01125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Joint Role–View</a:t>
            </a:r>
            <a:endParaRPr sz="1200" b="1" i="0">
              <a:solidFill>
                <a:srgbClr val="102A4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0" y="2667000"/>
            <a:ext cx="1428750" cy="2190750"/>
          </a:xfrm>
          <a:prstGeom prst="rect">
            <a:avLst/>
          </a:prstGeom>
          <a:solidFill>
            <a:srgbClr val="E77817"/>
          </a:solidFill>
          <a:ln w="0">
            <a:solidFill>
              <a:srgbClr val="E77817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76300" y="4857750"/>
            <a:ext cx="10001250" cy="0"/>
          </a:xfrm>
          <a:prstGeom prst="line">
            <a:avLst/>
          </a:prstGeom>
          <a:noFill/>
          <a:ln w="14288">
            <a:solidFill>
              <a:srgbClr val="102A4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714625" y="5476875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700" b="1" i="0">
                <a:solidFill>
                  <a:srgbClr val="7652A8"/>
                </a:solidFill>
              </a:defRPr>
            </a:pPr>
            <a:r>
              <a:rPr sz="2700" b="1" i="0">
                <a:solidFill>
                  <a:srgbClr val="7652A8"/>
                </a:solidFill>
              </a:rPr>
              <a:t>8 / 8</a:t>
            </a:r>
            <a:endParaRPr sz="2700" b="1" i="0">
              <a:solidFill>
                <a:srgbClr val="7652A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14625" y="59531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Role-only 正提升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19700" y="5476875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700" b="1" i="0">
                <a:solidFill>
                  <a:srgbClr val="078C8A"/>
                </a:solidFill>
              </a:defRPr>
            </a:pPr>
            <a:r>
              <a:rPr sz="2700" b="1" i="0">
                <a:solidFill>
                  <a:srgbClr val="078C8A"/>
                </a:solidFill>
              </a:rPr>
              <a:t>8</a:t>
            </a:r>
            <a:r>
              <a:rPr sz="2700" b="1" i="0">
                <a:solidFill>
                  <a:srgbClr val="078C8A"/>
                </a:solidFill>
              </a:rPr>
              <a:t> / 8</a:t>
            </a:r>
            <a:endParaRPr sz="2700" b="1" i="0">
              <a:solidFill>
                <a:srgbClr val="078C8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19700" y="59531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Joint over Role 正提升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62875" y="5476875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2700" b="1" i="0">
                <a:solidFill>
                  <a:srgbClr val="E77817"/>
                </a:solidFill>
              </a:defRPr>
            </a:pPr>
            <a:r>
              <a:rPr sz="2700" b="1" i="0">
                <a:solidFill>
                  <a:srgbClr val="E77817"/>
                </a:solidFill>
              </a:rPr>
              <a:t>+3.92</a:t>
            </a:r>
            <a:endParaRPr sz="2700" b="1" i="0">
              <a:solidFill>
                <a:srgbClr val="E7781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762875" y="59531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总 macro 增益</a:t>
            </a:r>
            <a:endParaRPr sz="1125" b="0" i="0">
              <a:solidFill>
                <a:srgbClr val="52606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4"/>
          <p:cNvGraphicFramePr/>
          <p:nvPr/>
        </p:nvGraphicFramePr>
        <p:xfrm>
          <a:off x="514985" y="358775"/>
          <a:ext cx="11162030" cy="6140450"/>
        </p:xfrm>
        <a:graphic>
          <a:graphicData uri="http://schemas.openxmlformats.org/drawingml/2006/table">
            <a:tbl>
              <a:tblPr/>
              <a:tblGrid>
                <a:gridCol w="1959610"/>
                <a:gridCol w="1960245"/>
                <a:gridCol w="908685"/>
                <a:gridCol w="990600"/>
                <a:gridCol w="782955"/>
                <a:gridCol w="784225"/>
                <a:gridCol w="763270"/>
                <a:gridCol w="763270"/>
                <a:gridCol w="783590"/>
                <a:gridCol w="764540"/>
                <a:gridCol w="701040"/>
              </a:tblGrid>
              <a:tr h="465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Backbone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Potsdam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Vaihingen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LoveDA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iSAID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OEM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UAVid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UDD5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VDD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Avg.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 marL="38100" marR="38100" marT="38100" marB="38100" anchor="ctr">
                    <a:solidFill>
                      <a:srgbClr val="0B2B40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VIP* (ICML'26)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DINOv3 + dino.txt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23.0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30.5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31.2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23.5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20.7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19.9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35.2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52.5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29.6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SCLIP (ECCV'24)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35.9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30.4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16.1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29.3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31.4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38.7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37.9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32.4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ClearCLIP (ECCV'24)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42.0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36.2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32.4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18.2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31.0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36.2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41.8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34.6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ProxyCLIP (ECCV'24)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 + DINOv2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49.0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34.3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21.8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38.9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35.8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SegEarth-OV (CVPR'25)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48.5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29.1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36.9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21.7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42.5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50.6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45.3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RSCLIP* (J-STARS'26)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35.5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21.2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42.5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50.4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42.5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CorrCLIP (ICCV'25)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 + DINO + SAM2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51.9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36.9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25.5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32.9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38.3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46.1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ConInfer 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(CVPR Findings'26)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 + DINOv3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50.0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31.4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39.3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20.1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42.0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46.4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46.9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50.3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ReAttnCLIP (CVPR'26)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CLIP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48.7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29.9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37.0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23.2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41.1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44.0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53.7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49.7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ActiveSAM* (arXiv'26)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SAM 3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45.1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41.1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28.3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40.7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53.3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72.1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62.2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47.9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3A"/>
                          </a:solidFill>
                        </a:rPr>
                        <a:t>SegEarth-OV3</a:t>
                      </a:r>
                      <a:r>
                        <a:rPr sz="1200" b="0">
                          <a:solidFill>
                            <a:srgbClr val="172B3A"/>
                          </a:solidFill>
                        </a:rPr>
                        <a:t>*(</a:t>
                      </a:r>
                      <a:r>
                        <a:rPr sz="1200" b="0">
                          <a:solidFill>
                            <a:srgbClr val="172B3A"/>
                          </a:solidFill>
                        </a:rPr>
                        <a:t>arXiv'25)</a:t>
                      </a:r>
                      <a:endParaRPr sz="1200" b="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334155"/>
                          </a:solidFill>
                        </a:rPr>
                        <a:t>SAM 3</a:t>
                      </a:r>
                      <a:endParaRPr sz="1200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57.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60.8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7.4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2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7.6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4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4.3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54.7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71.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7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64.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1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>
                          <a:solidFill>
                            <a:srgbClr val="172B3A"/>
                          </a:solidFill>
                        </a:rPr>
                        <a:t>5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3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.</a:t>
                      </a:r>
                      <a:r>
                        <a:rPr sz="1200">
                          <a:solidFill>
                            <a:srgbClr val="172B3A"/>
                          </a:solidFill>
                        </a:rPr>
                        <a:t>5</a:t>
                      </a:r>
                      <a:endParaRPr sz="1200">
                        <a:solidFill>
                          <a:srgbClr val="172B3A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ProC-SAM3</a:t>
                      </a:r>
                      <a:r>
                        <a:rPr sz="1200" b="0">
                          <a:solidFill>
                            <a:srgbClr val="172B3A"/>
                          </a:solidFill>
                        </a:rPr>
                        <a:t>(</a:t>
                      </a:r>
                      <a:r>
                        <a:rPr sz="1200" b="0">
                          <a:solidFill>
                            <a:srgbClr val="172B3A"/>
                          </a:solidFill>
                        </a:rPr>
                        <a:t>GRSL’26</a:t>
                      </a:r>
                      <a:r>
                        <a:rPr sz="1200" b="0">
                          <a:solidFill>
                            <a:srgbClr val="172B3A"/>
                          </a:solidFill>
                        </a:rPr>
                        <a:t>)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SAM 3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58.8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64.5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46.1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29.5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48.9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60.0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73.4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67.5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chemeClr val="tx1"/>
                          </a:solidFill>
                        </a:rPr>
                        <a:t>56.1</a:t>
                      </a: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Our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34155"/>
                          </a:solidFill>
                        </a:rPr>
                        <a:t>SAM 3</a:t>
                      </a:r>
                      <a:endParaRPr sz="1200" b="1">
                        <a:solidFill>
                          <a:srgbClr val="334155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63.2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66.4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48.8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2</a:t>
                      </a:r>
                      <a:r>
                        <a:rPr lang="en-US" sz="1200" b="1">
                          <a:solidFill>
                            <a:srgbClr val="EA580C"/>
                          </a:solidFill>
                        </a:rPr>
                        <a:t>9</a:t>
                      </a:r>
                      <a:r>
                        <a:rPr sz="1200" b="1">
                          <a:solidFill>
                            <a:srgbClr val="EA580C"/>
                          </a:solidFill>
                        </a:rPr>
                        <a:t>.</a:t>
                      </a:r>
                      <a:r>
                        <a:rPr lang="en-US" sz="1200" b="1">
                          <a:solidFill>
                            <a:srgbClr val="EA580C"/>
                          </a:solidFill>
                        </a:rPr>
                        <a:t>1</a:t>
                      </a:r>
                      <a:endParaRPr lang="en-US"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53.1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59.8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72.9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66.6</a:t>
                      </a:r>
                      <a:endParaRPr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EA580C"/>
                          </a:solidFill>
                        </a:rPr>
                        <a:t>57.</a:t>
                      </a:r>
                      <a:r>
                        <a:rPr lang="en-US" sz="1200" b="1">
                          <a:solidFill>
                            <a:srgbClr val="EA580C"/>
                          </a:solidFill>
                        </a:rPr>
                        <a:t>5</a:t>
                      </a:r>
                      <a:endParaRPr lang="en-US" sz="1200" b="1">
                        <a:solidFill>
                          <a:srgbClr val="EA580C"/>
                        </a:solidFill>
                      </a:endParaRPr>
                    </a:p>
                  </a:txBody>
                  <a:tcPr marL="38100" marR="38100" marT="28575" marB="28575" anchor="ctr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ABLATION · ROLE TEXT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Role ablation：文本</a:t>
            </a:r>
            <a:r>
              <a:rPr sz="2400" b="1" i="0">
                <a:solidFill>
                  <a:srgbClr val="102A43"/>
                </a:solidFill>
              </a:rPr>
              <a:t>补充</a:t>
            </a:r>
            <a:r>
              <a:rPr sz="2400" b="1" i="0">
                <a:solidFill>
                  <a:srgbClr val="102A43"/>
                </a:solidFill>
              </a:rPr>
              <a:t>在不同遥感 ontology 上都能形成明显收益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16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42875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只挑选 Role 增益最清楚的三个数据集展示；完整 8 数据集结果见主表。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1431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OpenEarthMap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409825" y="2162175"/>
            <a:ext cx="2700711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2409825" y="2333625"/>
            <a:ext cx="3080309" cy="171450"/>
          </a:xfrm>
          <a:prstGeom prst="roundRect">
            <a:avLst>
              <a:gd name="adj" fmla="val 50000"/>
            </a:avLst>
          </a:prstGeom>
          <a:solidFill>
            <a:srgbClr val="7652A8"/>
          </a:solidFill>
          <a:ln w="0">
            <a:solidFill>
              <a:srgbClr val="7652A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58025" y="2124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44.30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58025" y="23241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7652A8"/>
                </a:solidFill>
              </a:defRPr>
            </a:pPr>
            <a:r>
              <a:rPr sz="1125" b="1" i="0">
                <a:solidFill>
                  <a:srgbClr val="7652A8"/>
                </a:solidFill>
              </a:rPr>
              <a:t>50.53</a:t>
            </a:r>
            <a:endParaRPr sz="1125" b="1" i="0">
              <a:solidFill>
                <a:srgbClr val="7652A8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58125" y="220980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+6.23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1908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VDD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409825" y="3209925"/>
            <a:ext cx="3907963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409825" y="3381375"/>
            <a:ext cx="4030431" cy="171450"/>
          </a:xfrm>
          <a:prstGeom prst="roundRect">
            <a:avLst>
              <a:gd name="adj" fmla="val 50000"/>
            </a:avLst>
          </a:prstGeom>
          <a:solidFill>
            <a:srgbClr val="7652A8"/>
          </a:solidFill>
          <a:ln w="0">
            <a:solidFill>
              <a:srgbClr val="7652A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58025" y="31718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64.11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58025" y="3371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7652A8"/>
                </a:solidFill>
              </a:defRPr>
            </a:pPr>
            <a:r>
              <a:rPr sz="1125" b="1" i="0">
                <a:solidFill>
                  <a:srgbClr val="7652A8"/>
                </a:solidFill>
              </a:rPr>
              <a:t>66.12</a:t>
            </a:r>
            <a:endParaRPr sz="1125" b="1" i="0">
              <a:solidFill>
                <a:srgbClr val="7652A8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58125" y="32575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+2.01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2386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UAVid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409825" y="4257675"/>
            <a:ext cx="3327463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409825" y="4429125"/>
            <a:ext cx="3627596" cy="171450"/>
          </a:xfrm>
          <a:prstGeom prst="roundRect">
            <a:avLst>
              <a:gd name="adj" fmla="val 50000"/>
            </a:avLst>
          </a:prstGeom>
          <a:solidFill>
            <a:srgbClr val="7652A8"/>
          </a:solidFill>
          <a:ln w="0">
            <a:solidFill>
              <a:srgbClr val="7652A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58025" y="42195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54.59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58025" y="44196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7652A8"/>
                </a:solidFill>
              </a:defRPr>
            </a:pPr>
            <a:r>
              <a:rPr sz="1125" b="1" i="0">
                <a:solidFill>
                  <a:srgbClr val="7652A8"/>
                </a:solidFill>
              </a:rPr>
              <a:t>59.51</a:t>
            </a:r>
            <a:endParaRPr sz="1125" b="1" i="0">
              <a:solidFill>
                <a:srgbClr val="7652A8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858125" y="430530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+4.92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15375" y="1809750"/>
            <a:ext cx="2667000" cy="3476625"/>
          </a:xfrm>
          <a:prstGeom prst="roundRect">
            <a:avLst>
              <a:gd name="adj" fmla="val 2857"/>
            </a:avLst>
          </a:prstGeom>
          <a:solidFill>
            <a:srgbClr val="F5EFFB"/>
          </a:solidFill>
          <a:ln w="9525">
            <a:solidFill>
              <a:srgbClr val="7652A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0" y="2095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 i="0">
                <a:solidFill>
                  <a:srgbClr val="7652A8"/>
                </a:solidFill>
              </a:defRPr>
            </a:pPr>
            <a:r>
              <a:rPr sz="1425" b="1" i="0">
                <a:solidFill>
                  <a:srgbClr val="7652A8"/>
                </a:solidFill>
              </a:rPr>
              <a:t>What this supports</a:t>
            </a:r>
            <a:endParaRPr sz="1425" b="1" i="0">
              <a:solidFill>
                <a:srgbClr val="7652A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53500" y="2619375"/>
            <a:ext cx="214312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• 一个类别名的信息量不足</a:t>
            </a:r>
            <a:endParaRPr sz="1275" b="0" i="0">
              <a:solidFill>
                <a:srgbClr val="52606D"/>
              </a:solidFill>
            </a:endParaRPr>
          </a:p>
          <a:p>
            <a:endParaRPr sz="1275"/>
          </a:p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• P / S / I 的补充信息应按职责组织</a:t>
            </a:r>
            <a:endParaRPr sz="1275" b="0" i="0">
              <a:solidFill>
                <a:srgbClr val="52606D"/>
              </a:solidFill>
            </a:endParaRPr>
          </a:p>
          <a:p>
            <a:endParaRPr sz="1275"/>
          </a:p>
          <a:p>
            <a:pPr algn="l"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• Anchor 仍是稳定 ontology 基座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0" y="4810125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Macro </a:t>
            </a:r>
            <a:r>
              <a:rPr sz="1500" b="1" i="0">
                <a:solidFill>
                  <a:srgbClr val="102A43"/>
                </a:solidFill>
              </a:rPr>
              <a:t>+2.25</a:t>
            </a:r>
            <a:r>
              <a:rPr sz="1500" b="1" i="0">
                <a:solidFill>
                  <a:srgbClr val="102A43"/>
                </a:solidFill>
              </a:rPr>
              <a:t> mIoU</a:t>
            </a:r>
            <a:endParaRPr sz="1500" b="1" i="0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ABLATION · VIEW PROFILE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View ablation：视野</a:t>
            </a:r>
            <a:r>
              <a:rPr sz="2400" b="1" i="0">
                <a:solidFill>
                  <a:srgbClr val="102A43"/>
                </a:solidFill>
              </a:rPr>
              <a:t>信息</a:t>
            </a:r>
            <a:r>
              <a:rPr sz="2400" b="1" i="0">
                <a:solidFill>
                  <a:srgbClr val="102A43"/>
                </a:solidFill>
              </a:rPr>
              <a:t>在 Role 条件下</a:t>
            </a:r>
            <a:r>
              <a:rPr sz="2400" b="1" i="0">
                <a:solidFill>
                  <a:srgbClr val="102A43"/>
                </a:solidFill>
              </a:rPr>
              <a:t>能</a:t>
            </a:r>
            <a:r>
              <a:rPr sz="2400" b="1" i="0">
                <a:solidFill>
                  <a:srgbClr val="102A43"/>
                </a:solidFill>
              </a:rPr>
              <a:t>形成稳定增益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17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42875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 i="0">
                <a:solidFill>
                  <a:srgbClr val="52606D"/>
                </a:solidFill>
              </a:defRPr>
            </a:pPr>
            <a:r>
              <a:rPr sz="1125" b="0" i="0">
                <a:solidFill>
                  <a:srgbClr val="52606D"/>
                </a:solidFill>
              </a:rPr>
              <a:t>比较：Role-only → Joint；右侧为 selected operator 的交互分解</a:t>
            </a:r>
            <a:endParaRPr sz="1125" b="0" i="0">
              <a:solidFill>
                <a:srgbClr val="52606D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1431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UAVid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409825" y="2162175"/>
            <a:ext cx="3627596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2409825" y="2333625"/>
            <a:ext cx="3646742" cy="171450"/>
          </a:xfrm>
          <a:prstGeom prst="roundRect">
            <a:avLst>
              <a:gd name="adj" fmla="val 50000"/>
            </a:avLst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58025" y="21240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59.51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58025" y="23241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078C8A"/>
                </a:solidFill>
              </a:defRPr>
            </a:pPr>
            <a:r>
              <a:rPr sz="1125" b="1" i="0">
                <a:solidFill>
                  <a:srgbClr val="078C8A"/>
                </a:solidFill>
              </a:rPr>
              <a:t>59.82</a:t>
            </a:r>
            <a:endParaRPr sz="1125" b="1" i="0">
              <a:solidFill>
                <a:srgbClr val="078C8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58125" y="220980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+0.31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19087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LoveDA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409825" y="3209925"/>
            <a:ext cx="2944654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2409825" y="3381375"/>
            <a:ext cx="2975229" cy="171450"/>
          </a:xfrm>
          <a:prstGeom prst="roundRect">
            <a:avLst>
              <a:gd name="adj" fmla="val 50000"/>
            </a:avLst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58025" y="31718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48.31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58025" y="33718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078C8A"/>
                </a:solidFill>
              </a:defRPr>
            </a:pPr>
            <a:r>
              <a:rPr sz="1125" b="1" i="0">
                <a:solidFill>
                  <a:srgbClr val="078C8A"/>
                </a:solidFill>
              </a:rPr>
              <a:t>48.81</a:t>
            </a:r>
            <a:endParaRPr sz="1125" b="1" i="0">
              <a:solidFill>
                <a:srgbClr val="078C8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58125" y="325755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+0.50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238625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 i="0">
                <a:solidFill>
                  <a:srgbClr val="1F2937"/>
                </a:solidFill>
              </a:defRPr>
            </a:pPr>
            <a:r>
              <a:rPr sz="1275" b="1" i="0">
                <a:solidFill>
                  <a:srgbClr val="1F2937"/>
                </a:solidFill>
              </a:rPr>
              <a:t>OpenEarthMap</a:t>
            </a:r>
            <a:endParaRPr sz="1275" b="1" i="0">
              <a:solidFill>
                <a:srgbClr val="1F293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409825" y="4257675"/>
            <a:ext cx="3080309" cy="123825"/>
          </a:xfrm>
          <a:prstGeom prst="roundRect">
            <a:avLst>
              <a:gd name="adj" fmla="val 50000"/>
            </a:avLst>
          </a:prstGeom>
          <a:solidFill>
            <a:srgbClr val="DCE5EB"/>
          </a:solidFill>
          <a:ln w="0">
            <a:solidFill>
              <a:srgbClr val="DCE5EB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409825" y="4429125"/>
            <a:ext cx="3235452" cy="171450"/>
          </a:xfrm>
          <a:prstGeom prst="roundRect">
            <a:avLst>
              <a:gd name="adj" fmla="val 50000"/>
            </a:avLst>
          </a:prstGeom>
          <a:solidFill>
            <a:srgbClr val="078C8A"/>
          </a:solidFill>
          <a:ln w="0">
            <a:solidFill>
              <a:srgbClr val="078C8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58025" y="42195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 i="0">
                <a:solidFill>
                  <a:srgbClr val="7B8794"/>
                </a:solidFill>
              </a:defRPr>
            </a:pPr>
            <a:r>
              <a:rPr sz="975" b="0" i="0">
                <a:solidFill>
                  <a:srgbClr val="7B8794"/>
                </a:solidFill>
              </a:rPr>
              <a:t>50.53</a:t>
            </a:r>
            <a:endParaRPr sz="975" b="0" i="0">
              <a:solidFill>
                <a:srgbClr val="7B879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58025" y="44196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 i="0">
                <a:solidFill>
                  <a:srgbClr val="078C8A"/>
                </a:solidFill>
              </a:defRPr>
            </a:pPr>
            <a:r>
              <a:rPr sz="1125" b="1" i="0">
                <a:solidFill>
                  <a:srgbClr val="078C8A"/>
                </a:solidFill>
              </a:rPr>
              <a:t>53.08</a:t>
            </a:r>
            <a:endParaRPr sz="1125" b="1" i="0">
              <a:solidFill>
                <a:srgbClr val="078C8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858125" y="4305300"/>
            <a:ext cx="742950" cy="26670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 w="0">
            <a:solidFill>
              <a:srgbClr val="FFF3EA"/>
            </a:solidFill>
            <a:prstDash val="solid"/>
          </a:ln>
        </p:spPr>
        <p:txBody>
          <a:bodyPr lIns="57150" tIns="0" rIns="57150" bIns="0" anchor="ctr"/>
          <a:lstStyle/>
          <a:p>
            <a:pPr algn="ctr">
              <a:buNone/>
              <a:defRPr sz="975" b="1">
                <a:solidFill>
                  <a:srgbClr val="E45A45"/>
                </a:solidFill>
              </a:defRPr>
            </a:pPr>
            <a:r>
              <a:rPr sz="975" b="1">
                <a:solidFill>
                  <a:srgbClr val="E45A45"/>
                </a:solidFill>
              </a:rPr>
              <a:t>+2.55</a:t>
            </a:r>
            <a:endParaRPr sz="975" b="1">
              <a:solidFill>
                <a:srgbClr val="E45A45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715375" y="1809750"/>
            <a:ext cx="2667000" cy="3476625"/>
          </a:xfrm>
          <a:prstGeom prst="roundRect">
            <a:avLst>
              <a:gd name="adj" fmla="val 2857"/>
            </a:avLst>
          </a:prstGeom>
          <a:solidFill>
            <a:srgbClr val="EAF8F7"/>
          </a:solidFill>
          <a:ln w="9525">
            <a:solidFill>
              <a:srgbClr val="078C8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0" y="2095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 i="0">
                <a:solidFill>
                  <a:srgbClr val="078C8A"/>
                </a:solidFill>
              </a:defRPr>
            </a:pPr>
            <a:r>
              <a:rPr sz="1425" b="1" i="0">
                <a:solidFill>
                  <a:srgbClr val="078C8A"/>
                </a:solidFill>
              </a:rPr>
              <a:t>Interaction evidence</a:t>
            </a:r>
            <a:endParaRPr sz="1425" b="1" i="0">
              <a:solidFill>
                <a:srgbClr val="078C8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53500" y="2619375"/>
            <a:ext cx="2143125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566678"/>
                </a:solidFill>
              </a:defRPr>
            </a:pPr>
            <a:r>
              <a:rPr sz="1200" b="0" i="0">
                <a:solidFill>
                  <a:srgbClr val="566678"/>
                </a:solidFill>
              </a:rPr>
              <a:t>• UAVid：Anchor 下 View-only </a:t>
            </a:r>
            <a:r>
              <a:rPr sz="1200" b="0" i="0">
                <a:solidFill>
                  <a:srgbClr val="566678"/>
                </a:solidFill>
              </a:rPr>
              <a:t>+0.00</a:t>
            </a:r>
            <a:endParaRPr sz="1275" b="0" i="0">
              <a:solidFill>
                <a:srgbClr val="52606D"/>
              </a:solidFill>
            </a:endParaRPr>
          </a:p>
          <a:p>
            <a:pPr algn="l">
              <a:buNone/>
              <a:defRPr sz="1200">
                <a:solidFill>
                  <a:srgbClr val="566678"/>
                </a:solidFill>
              </a:defRPr>
            </a:pPr>
            <a:r>
              <a:rPr sz="1200">
                <a:solidFill>
                  <a:srgbClr val="566678"/>
                </a:solidFill>
              </a:rPr>
              <a:t>  selected View main </a:t>
            </a:r>
            <a:r>
              <a:rPr sz="1200">
                <a:solidFill>
                  <a:srgbClr val="566678"/>
                </a:solidFill>
              </a:rPr>
              <a:t>−0.15</a:t>
            </a:r>
            <a:endParaRPr sz="1275"/>
          </a:p>
          <a:p>
            <a:pPr algn="l">
              <a:buNone/>
              <a:defRPr sz="1200" b="0" i="0">
                <a:solidFill>
                  <a:srgbClr val="566678"/>
                </a:solidFill>
              </a:defRPr>
            </a:pPr>
            <a:r>
              <a:rPr sz="1200" b="0" i="0">
                <a:solidFill>
                  <a:srgbClr val="566678"/>
                </a:solidFill>
              </a:rPr>
              <a:t>  Role×View interaction </a:t>
            </a:r>
            <a:r>
              <a:rPr sz="1200" b="0" i="0">
                <a:solidFill>
                  <a:srgbClr val="566678"/>
                </a:solidFill>
              </a:rPr>
              <a:t>+0.47</a:t>
            </a:r>
            <a:endParaRPr sz="1275" b="0" i="0">
              <a:solidFill>
                <a:srgbClr val="52606D"/>
              </a:solidFill>
            </a:endParaRPr>
          </a:p>
          <a:p>
            <a:endParaRPr sz="1275"/>
          </a:p>
          <a:p>
            <a:pPr algn="l">
              <a:buNone/>
              <a:defRPr sz="1200" b="0" i="0">
                <a:solidFill>
                  <a:srgbClr val="566678"/>
                </a:solidFill>
              </a:defRPr>
            </a:pPr>
            <a:r>
              <a:rPr sz="1200" b="0" i="0">
                <a:solidFill>
                  <a:srgbClr val="566678"/>
                </a:solidFill>
              </a:rPr>
              <a:t>• LoveDA：</a:t>
            </a:r>
            <a:r>
              <a:rPr sz="1200" b="0" i="0">
                <a:solidFill>
                  <a:srgbClr val="566678"/>
                </a:solidFill>
              </a:rPr>
              <a:t>−0.16</a:t>
            </a:r>
            <a:r>
              <a:rPr sz="1200" b="0" i="0">
                <a:solidFill>
                  <a:srgbClr val="566678"/>
                </a:solidFill>
              </a:rPr>
              <a:t> → </a:t>
            </a:r>
            <a:r>
              <a:rPr sz="1200" b="0" i="0">
                <a:solidFill>
                  <a:srgbClr val="566678"/>
                </a:solidFill>
              </a:rPr>
              <a:t>+0.66</a:t>
            </a:r>
            <a:endParaRPr sz="1275" b="0" i="0">
              <a:solidFill>
                <a:srgbClr val="52606D"/>
              </a:solidFill>
            </a:endParaRPr>
          </a:p>
          <a:p>
            <a:pPr algn="l">
              <a:buNone/>
              <a:defRPr sz="1200" b="0" i="0">
                <a:solidFill>
                  <a:srgbClr val="566678"/>
                </a:solidFill>
              </a:defRPr>
            </a:pPr>
            <a:r>
              <a:rPr sz="1200" b="0" i="0">
                <a:solidFill>
                  <a:srgbClr val="566678"/>
                </a:solidFill>
              </a:rPr>
              <a:t>• OEM：</a:t>
            </a:r>
            <a:r>
              <a:rPr sz="1200" b="0" i="0">
                <a:solidFill>
                  <a:srgbClr val="566678"/>
                </a:solidFill>
              </a:rPr>
              <a:t>+0.87</a:t>
            </a:r>
            <a:r>
              <a:rPr sz="1200" b="0" i="0">
                <a:solidFill>
                  <a:srgbClr val="566678"/>
                </a:solidFill>
              </a:rPr>
              <a:t> → </a:t>
            </a:r>
            <a:r>
              <a:rPr sz="1200" b="0" i="0">
                <a:solidFill>
                  <a:srgbClr val="566678"/>
                </a:solidFill>
              </a:rPr>
              <a:t>+1.68</a:t>
            </a:r>
            <a:endParaRPr sz="1275" b="0" i="0">
              <a:solidFill>
                <a:srgbClr val="52606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0" y="4810125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Joint over Role: </a:t>
            </a:r>
            <a:r>
              <a:rPr sz="1425" b="1" i="0">
                <a:solidFill>
                  <a:srgbClr val="102A43"/>
                </a:solidFill>
              </a:rPr>
              <a:t>8</a:t>
            </a:r>
            <a:r>
              <a:rPr sz="1425" b="1" i="0">
                <a:solidFill>
                  <a:srgbClr val="102A43"/>
                </a:solidFill>
              </a:rPr>
              <a:t> / 8 ↑</a:t>
            </a:r>
            <a:endParaRPr sz="1425" b="1" i="0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90550" y="28575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 i="0">
                <a:solidFill>
                  <a:srgbClr val="078C8A"/>
                </a:solidFill>
              </a:defRPr>
            </a:pPr>
            <a:r>
              <a:rPr sz="900" b="1" i="0">
                <a:solidFill>
                  <a:srgbClr val="078C8A"/>
                </a:solidFill>
              </a:rPr>
              <a:t>NEXT EXPERIMENTS</a:t>
            </a:r>
            <a:endParaRPr sz="900" b="1" i="0">
              <a:solidFill>
                <a:srgbClr val="078C8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542925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下一步</a:t>
            </a:r>
            <a:r>
              <a:rPr sz="2400" b="1" i="0">
                <a:solidFill>
                  <a:srgbClr val="102A43"/>
                </a:solidFill>
              </a:rPr>
              <a:t>实验</a:t>
            </a:r>
            <a:r>
              <a:rPr sz="2400" b="1" i="0">
                <a:solidFill>
                  <a:srgbClr val="102A43"/>
                </a:solidFill>
              </a:rPr>
              <a:t>规划</a:t>
            </a:r>
            <a:endParaRPr sz="2400" b="1" i="0">
              <a:solidFill>
                <a:srgbClr val="102A4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3619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1" i="0">
                <a:solidFill>
                  <a:srgbClr val="66788A"/>
                </a:solidFill>
              </a:defRPr>
            </a:pPr>
            <a:r>
              <a:rPr sz="900" b="1" i="0">
                <a:solidFill>
                  <a:srgbClr val="66788A"/>
                </a:solidFill>
              </a:rPr>
              <a:t>18</a:t>
            </a:r>
            <a:endParaRPr sz="900" b="1" i="0">
              <a:solidFill>
                <a:srgbClr val="7B8794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90550" y="1143000"/>
            <a:ext cx="110490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16954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078C8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895350" y="1924050"/>
            <a:ext cx="590550" cy="323850"/>
          </a:xfrm>
          <a:prstGeom prst="roundRect">
            <a:avLst>
              <a:gd name="adj" fmla="val 35294"/>
            </a:avLst>
          </a:prstGeom>
          <a:solidFill>
            <a:srgbClr val="E8F7F5"/>
          </a:solidFill>
          <a:ln w="11430">
            <a:solidFill>
              <a:srgbClr val="078C8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19431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78C8A"/>
                </a:solidFill>
              </a:defRPr>
            </a:pPr>
            <a:r>
              <a:rPr sz="1275" b="1">
                <a:solidFill>
                  <a:srgbClr val="078C8A"/>
                </a:solidFill>
              </a:rPr>
              <a:t>01</a:t>
            </a:r>
            <a:endParaRPr sz="1275" b="1">
              <a:solidFill>
                <a:srgbClr val="078C8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4955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078C8A"/>
                </a:solidFill>
              </a:defRPr>
            </a:pPr>
            <a:r>
              <a:rPr sz="1875" b="1">
                <a:solidFill>
                  <a:srgbClr val="078C8A"/>
                </a:solidFill>
              </a:rPr>
              <a:t>遥感主实验</a:t>
            </a:r>
            <a:endParaRPr sz="1875" b="1">
              <a:solidFill>
                <a:srgbClr val="078C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30861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跑</a:t>
            </a:r>
            <a:r>
              <a:rPr sz="1500" b="0">
                <a:solidFill>
                  <a:srgbClr val="102A43"/>
                </a:solidFill>
              </a:rPr>
              <a:t>iSAID</a:t>
            </a:r>
            <a:r>
              <a:rPr sz="1500" b="0">
                <a:solidFill>
                  <a:srgbClr val="102A43"/>
                </a:solidFill>
              </a:rPr>
              <a:t>完整实验</a:t>
            </a:r>
            <a:r>
              <a:rPr sz="1500" b="0">
                <a:solidFill>
                  <a:srgbClr val="102A43"/>
                </a:solidFill>
              </a:rPr>
              <a:t>结果</a:t>
            </a:r>
            <a:endParaRPr sz="1500" b="0">
              <a:solidFill>
                <a:srgbClr val="102A4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143375" y="16954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145B5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71975" y="1924050"/>
            <a:ext cx="590550" cy="323850"/>
          </a:xfrm>
          <a:prstGeom prst="roundRect">
            <a:avLst>
              <a:gd name="adj" fmla="val 35294"/>
            </a:avLst>
          </a:prstGeom>
          <a:solidFill>
            <a:srgbClr val="F2ECFA"/>
          </a:solidFill>
          <a:ln w="11430">
            <a:solidFill>
              <a:srgbClr val="7145B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48175" y="19431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7145B5"/>
                </a:solidFill>
              </a:defRPr>
            </a:pPr>
            <a:r>
              <a:rPr sz="1275" b="1">
                <a:solidFill>
                  <a:srgbClr val="7145B5"/>
                </a:solidFill>
              </a:rPr>
              <a:t>02</a:t>
            </a:r>
            <a:endParaRPr sz="1275" b="1">
              <a:solidFill>
                <a:srgbClr val="7145B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71975" y="24955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7145B5"/>
                </a:solidFill>
              </a:defRPr>
            </a:pPr>
            <a:r>
              <a:rPr sz="1875" b="1">
                <a:solidFill>
                  <a:srgbClr val="7145B5"/>
                </a:solidFill>
              </a:rPr>
              <a:t>自然图像探索</a:t>
            </a:r>
            <a:endParaRPr sz="1875" b="1">
              <a:solidFill>
                <a:srgbClr val="7145B5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71975" y="30861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VOC20 与 Cityscapes：检验 role–view 机制是否超出遥感域并超过匹配 baseline</a:t>
            </a:r>
            <a:endParaRPr sz="1500" b="0">
              <a:solidFill>
                <a:srgbClr val="102A4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620000" y="16954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26B00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48600" y="1924050"/>
            <a:ext cx="590550" cy="323850"/>
          </a:xfrm>
          <a:prstGeom prst="roundRect">
            <a:avLst>
              <a:gd name="adj" fmla="val 35294"/>
            </a:avLst>
          </a:prstGeom>
          <a:solidFill>
            <a:srgbClr val="FFF1E8"/>
          </a:solidFill>
          <a:ln w="11430">
            <a:solidFill>
              <a:srgbClr val="F26B0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924800" y="19431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26B00"/>
                </a:solidFill>
              </a:defRPr>
            </a:pPr>
            <a:r>
              <a:rPr sz="1275" b="1">
                <a:solidFill>
                  <a:srgbClr val="F26B00"/>
                </a:solidFill>
              </a:rPr>
              <a:t>03</a:t>
            </a:r>
            <a:endParaRPr sz="1275" b="1">
              <a:solidFill>
                <a:srgbClr val="F26B0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48600" y="2495550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26B00"/>
                </a:solidFill>
              </a:defRPr>
            </a:pPr>
            <a:r>
              <a:rPr sz="1875" b="1">
                <a:solidFill>
                  <a:srgbClr val="F26B00"/>
                </a:solidFill>
              </a:rPr>
              <a:t>推理加速优化（Part 3）</a:t>
            </a:r>
            <a:endParaRPr sz="1875" b="1">
              <a:solidFill>
                <a:srgbClr val="F26B0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48600" y="30861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工程压缩；方法</a:t>
            </a:r>
            <a:r>
              <a:rPr sz="1500" b="0">
                <a:solidFill>
                  <a:srgbClr val="102A43"/>
                </a:solidFill>
              </a:rPr>
              <a:t>压缩？</a:t>
            </a:r>
            <a:endParaRPr sz="1500" b="0">
              <a:solidFill>
                <a:srgbClr val="102A43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66750" y="5219700"/>
            <a:ext cx="10096500" cy="685800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4288">
            <a:solidFill>
              <a:srgbClr val="D7E1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" y="5353050"/>
            <a:ext cx="9639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主线顺序：iSAID Joint → </a:t>
            </a:r>
            <a:r>
              <a:rPr sz="1500" b="1">
                <a:solidFill>
                  <a:srgbClr val="102A43"/>
                </a:solidFill>
              </a:rPr>
              <a:t>自然图像</a:t>
            </a:r>
            <a:r>
              <a:rPr sz="1500" b="1">
                <a:solidFill>
                  <a:srgbClr val="102A43"/>
                </a:solidFill>
              </a:rPr>
              <a:t> → 推理加速。</a:t>
            </a:r>
            <a:endParaRPr sz="1500" b="1">
              <a:solidFill>
                <a:srgbClr val="102A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5883</Words>
  <Application>WPS 演示</Application>
  <PresentationFormat>Converted Presentation</PresentationFormat>
  <Paragraphs>966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Helvetica Neue</vt:lpstr>
      <vt:lpstr>微软雅黑</vt:lpstr>
      <vt:lpstr>方正雅意黑 GB18030L2</vt:lpstr>
      <vt:lpstr>宋体</vt:lpstr>
      <vt:lpstr>Arial Unicode MS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吃西瓜的菠萝君</cp:lastModifiedBy>
  <cp:revision>1</cp:revision>
  <dcterms:created xsi:type="dcterms:W3CDTF">2026-08-29T08:33:21Z</dcterms:created>
  <dcterms:modified xsi:type="dcterms:W3CDTF">2026-08-29T08:33:21Z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0BF1912C246D205A5199926ADEF7327C_42</vt:lpwstr>
  </property>
  <property fmtid="{D5CDD505-2E9C-101B-9397-08002B2CF9AE}" pid="3" name="KSOProductBuildVer">
    <vt:lpwstr>2052-12.1.26055.26055</vt:lpwstr>
  </property>
</Properties>
</file>